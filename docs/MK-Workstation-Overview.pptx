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8afaae0c-c0fe-d73f-6d63-d97c7a996e2f}">
          <p14:sldIdLst>
            <p14:sldId id="256"/>
            <p14:sldId id="257"/>
          </p14:sldIdLst>
        </p14:section>
        <p14:section name="Your desktop" id="{f16ee782-c136-1a6a-7bcb-1e95aab66506}">
          <p14:sldIdLst>
            <p14:sldId id="258"/>
            <p14:sldId id="259"/>
            <p14:sldId id="260"/>
          </p14:sldIdLst>
        </p14:section>
        <p14:section name="MK Notes" id="{301c69b8-0420-321a-80fd-64aa6780ef68}">
          <p14:sldIdLst>
            <p14:sldId id="261"/>
            <p14:sldId id="262"/>
          </p14:sldIdLst>
        </p14:section>
        <p14:section name="Focus and tools" id="{5e5ee783-0940-fa91-3c87-b6d30ba1a433}">
          <p14:sldIdLst>
            <p14:sldId id="263"/>
            <p14:sldId id="264"/>
            <p14:sldId id="265"/>
          </p14:sldIdLst>
        </p14:section>
        <p14:section name="Your computer" id="{1381de5a-cf23-964c-db97-f82fa92b5321}">
          <p14:sldIdLst>
            <p14:sldId id="266"/>
            <p14:sldId id="267"/>
            <p14:sldId id="268"/>
          </p14:sldIdLst>
        </p14:section>
        <p14:section name="Get started" id="{90d8be71-231d-4070-c3b5-a376759a68ca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MK Workstation is a set of scripts and small apps that set up Fedora Workstation in one go: settings, extensions, apps, codecs, shortcuts. The rest of this deck walks through what you 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Alt+Tab and the three-finger swipe show one switcher with a ring that follows your fingers. Each window takes the same finger travel however many are open, so fast swipes land where you expect.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K_TITLE">
    <p:bg>
      <p:bgPr>
        <a:solidFill>
          <a:srgbClr val="0B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80160"/>
            <a:ext cx="3383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71800"/>
            <a:ext cx="33832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K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457200" y="477316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MK Workstation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K_DARK">
    <p:bg>
      <p:bgPr>
        <a:solidFill>
          <a:srgbClr val="0B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57200"/>
            <a:ext cx="80467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png"/><Relationship Id="rId15" Type="http://schemas.openxmlformats.org/officeDocument/2006/relationships/slideLayout" Target="../slideLayouts/slideLayout3.xml"/><Relationship Id="rId1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jp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MehulK-techie/fedora-workstation-config" TargetMode="External"/><Relationship Id="rId2" Type="http://schemas.openxmlformats.org/officeDocument/2006/relationships/hyperlink" Target="https://github.com/MehulK-techie/fedora-workstation-config/blob/main/docs/GUIDE.md" TargetMode="External"/><Relationship Id="rId3" Type="http://schemas.openxmlformats.org/officeDocument/2006/relationships/hyperlink" Target="https://github.com/MehulK-techie/fedora-workstation-config/blob/main/docs/FEATURES.md" TargetMode="Externa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ero" descr="/tmp/tmp.Shm5PlvpZ0/img/welcom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206240" y="0"/>
            <a:ext cx="493776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14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MK WORKSTATION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128016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Fedora, finished</a:t>
            </a:r>
            <a:endParaRPr lang="en-US" sz="48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297180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One command turns a fresh Fedora Workstation into a fast, good-looking desktop that already works the way you do.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3434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Free and open source · Fedora 44 · GNOME 50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WHY IT EXISTS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Great foundation, bare walls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80160"/>
            <a:ext cx="3931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Fedora is one of the best Linux systems you can install. Out of the box it's a blank canvas: few apps, missing video codecs, and a desktop that works differently from the one you came from.</a:t>
            </a:r>
            <a:endParaRPr lang="en-US" sz="1600" dirty="0"/>
          </a:p>
        </p:txBody>
      </p:sp>
      <p:sp>
        <p:nvSpPr>
          <p:cNvPr id="5" name="dot-1"/>
          <p:cNvSpPr/>
          <p:nvPr/>
        </p:nvSpPr>
        <p:spPr>
          <a:xfrm>
            <a:off x="457200" y="280720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-2" descr="/tmp/tmp.Shm5PlvpZ0/icons/edit-un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898648"/>
            <a:ext cx="201168" cy="201168"/>
          </a:xfrm>
          <a:prstGeom prst="rect">
            <a:avLst/>
          </a:prstGeom>
        </p:spPr>
      </p:pic>
      <p:sp>
        <p:nvSpPr>
          <p:cNvPr id="7" name="row-3"/>
          <p:cNvSpPr txBox="1"/>
          <p:nvPr/>
        </p:nvSpPr>
        <p:spPr>
          <a:xfrm>
            <a:off x="960120" y="2752344"/>
            <a:ext cx="3429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Before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a weekend of forum posts, extensions and settings</a:t>
            </a:r>
            <a:endParaRPr lang="en-US" sz="1400" dirty="0"/>
          </a:p>
        </p:txBody>
      </p:sp>
      <p:sp>
        <p:nvSpPr>
          <p:cNvPr id="8" name="dot-4"/>
          <p:cNvSpPr/>
          <p:nvPr/>
        </p:nvSpPr>
        <p:spPr>
          <a:xfrm>
            <a:off x="457200" y="363016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con-5" descr="/tmp/tmp.Shm5PlvpZ0/icons/software-update-availab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721608"/>
            <a:ext cx="201168" cy="201168"/>
          </a:xfrm>
          <a:prstGeom prst="rect">
            <a:avLst/>
          </a:prstGeom>
        </p:spPr>
      </p:pic>
      <p:sp>
        <p:nvSpPr>
          <p:cNvPr id="10" name="row-6"/>
          <p:cNvSpPr txBox="1"/>
          <p:nvPr/>
        </p:nvSpPr>
        <p:spPr>
          <a:xfrm>
            <a:off x="960120" y="3575304"/>
            <a:ext cx="3429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After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one command, a coffee, a finished desktop</a:t>
            </a:r>
            <a:endParaRPr lang="en-US" sz="1400" dirty="0"/>
          </a:p>
        </p:txBody>
      </p:sp>
      <p:sp>
        <p:nvSpPr>
          <p:cNvPr id="11" name="stat-7"/>
          <p:cNvSpPr/>
          <p:nvPr/>
        </p:nvSpPr>
        <p:spPr>
          <a:xfrm>
            <a:off x="4846320" y="1280160"/>
            <a:ext cx="182880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12" name="statbig-8"/>
          <p:cNvSpPr txBox="1"/>
          <p:nvPr/>
        </p:nvSpPr>
        <p:spPr>
          <a:xfrm>
            <a:off x="5029200" y="14173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1</a:t>
            </a:r>
            <a:endParaRPr lang="en-US" sz="3600" dirty="0"/>
          </a:p>
        </p:txBody>
      </p:sp>
      <p:sp>
        <p:nvSpPr>
          <p:cNvPr id="13" name="statsmall-9"/>
          <p:cNvSpPr txBox="1"/>
          <p:nvPr/>
        </p:nvSpPr>
        <p:spPr>
          <a:xfrm>
            <a:off x="5029200" y="20574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command sets up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the whole desktop</a:t>
            </a:r>
            <a:endParaRPr lang="en-US" sz="1200" dirty="0"/>
          </a:p>
        </p:txBody>
      </p:sp>
      <p:sp>
        <p:nvSpPr>
          <p:cNvPr id="14" name="stat-10"/>
          <p:cNvSpPr/>
          <p:nvPr/>
        </p:nvSpPr>
        <p:spPr>
          <a:xfrm>
            <a:off x="6812280" y="1280160"/>
            <a:ext cx="182880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15" name="statbig-11"/>
          <p:cNvSpPr txBox="1"/>
          <p:nvPr/>
        </p:nvSpPr>
        <p:spPr>
          <a:xfrm>
            <a:off x="6995160" y="14173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~15 min</a:t>
            </a:r>
            <a:endParaRPr lang="en-US" sz="3600" dirty="0"/>
          </a:p>
        </p:txBody>
      </p:sp>
      <p:sp>
        <p:nvSpPr>
          <p:cNvPr id="16" name="statsmall-12"/>
          <p:cNvSpPr txBox="1"/>
          <p:nvPr/>
        </p:nvSpPr>
        <p:spPr>
          <a:xfrm>
            <a:off x="6995160" y="20574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from fresh install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to finished</a:t>
            </a:r>
            <a:endParaRPr lang="en-US" sz="1200" dirty="0"/>
          </a:p>
        </p:txBody>
      </p:sp>
      <p:sp>
        <p:nvSpPr>
          <p:cNvPr id="17" name="stat-13"/>
          <p:cNvSpPr/>
          <p:nvPr/>
        </p:nvSpPr>
        <p:spPr>
          <a:xfrm>
            <a:off x="4846320" y="2880360"/>
            <a:ext cx="182880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18" name="statbig-14"/>
          <p:cNvSpPr txBox="1"/>
          <p:nvPr/>
        </p:nvSpPr>
        <p:spPr>
          <a:xfrm>
            <a:off x="5029200" y="30175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0</a:t>
            </a:r>
            <a:endParaRPr lang="en-US" sz="3600" dirty="0"/>
          </a:p>
        </p:txBody>
      </p:sp>
      <p:sp>
        <p:nvSpPr>
          <p:cNvPr id="19" name="statsmall-15"/>
          <p:cNvSpPr txBox="1"/>
          <p:nvPr/>
        </p:nvSpPr>
        <p:spPr>
          <a:xfrm>
            <a:off x="5029200" y="36576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settings you need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to look up</a:t>
            </a:r>
            <a:endParaRPr lang="en-US" sz="1200" dirty="0"/>
          </a:p>
        </p:txBody>
      </p:sp>
      <p:sp>
        <p:nvSpPr>
          <p:cNvPr id="20" name="stat-16"/>
          <p:cNvSpPr/>
          <p:nvPr/>
        </p:nvSpPr>
        <p:spPr>
          <a:xfrm>
            <a:off x="6812280" y="2880360"/>
            <a:ext cx="182880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21" name="statbig-17"/>
          <p:cNvSpPr txBox="1"/>
          <p:nvPr/>
        </p:nvSpPr>
        <p:spPr>
          <a:xfrm>
            <a:off x="6995160" y="30175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100%</a:t>
            </a:r>
            <a:endParaRPr lang="en-US" sz="3600" dirty="0"/>
          </a:p>
        </p:txBody>
      </p:sp>
      <p:sp>
        <p:nvSpPr>
          <p:cNvPr id="22" name="statsmall-18"/>
          <p:cNvSpPr txBox="1"/>
          <p:nvPr/>
        </p:nvSpPr>
        <p:spPr>
          <a:xfrm>
            <a:off x="6995160" y="36576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open source, scripts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you can read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MOVING BETWEEN APPS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Swipe through your windows</a:t>
            </a:r>
            <a:endParaRPr lang="en-US" sz="3000" dirty="0"/>
          </a:p>
        </p:txBody>
      </p:sp>
      <p:pic>
        <p:nvPicPr>
          <p:cNvPr id="4" name="alttab-19" descr="/tmp/tmp.Shm5PlvpZ0/img/alttab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5120640" cy="288036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B1430">
                <a:alpha val="18000"/>
              </a:srgbClr>
            </a:outerShdw>
          </a:effectLst>
        </p:spPr>
      </p:pic>
      <p:sp>
        <p:nvSpPr>
          <p:cNvPr id="5" name="caption-20"/>
          <p:cNvSpPr txBox="1"/>
          <p:nvPr/>
        </p:nvSpPr>
        <p:spPr>
          <a:xfrm>
            <a:off x="457200" y="42519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One glowing ring glides to the window you want</a:t>
            </a:r>
            <a:endParaRPr lang="en-US" sz="1000" dirty="0"/>
          </a:p>
        </p:txBody>
      </p:sp>
      <p:sp>
        <p:nvSpPr>
          <p:cNvPr id="6" name="dot-21"/>
          <p:cNvSpPr/>
          <p:nvPr/>
        </p:nvSpPr>
        <p:spPr>
          <a:xfrm>
            <a:off x="5852160" y="134416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con-22" descr="/tmp/tmp.Shm5PlvpZ0/icons/input-touchpa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435608"/>
            <a:ext cx="201168" cy="201168"/>
          </a:xfrm>
          <a:prstGeom prst="rect">
            <a:avLst/>
          </a:prstGeom>
        </p:spPr>
      </p:pic>
      <p:sp>
        <p:nvSpPr>
          <p:cNvPr id="8" name="row-23"/>
          <p:cNvSpPr txBox="1"/>
          <p:nvPr/>
        </p:nvSpPr>
        <p:spPr>
          <a:xfrm>
            <a:off x="6355080" y="1289304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Three fingers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every window, every workspace</a:t>
            </a:r>
            <a:endParaRPr lang="en-US" sz="1400" dirty="0"/>
          </a:p>
        </p:txBody>
      </p:sp>
      <p:sp>
        <p:nvSpPr>
          <p:cNvPr id="9" name="dot-24"/>
          <p:cNvSpPr/>
          <p:nvPr/>
        </p:nvSpPr>
        <p:spPr>
          <a:xfrm>
            <a:off x="5852160" y="212140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-25" descr="/tmp/tmp.Shm5PlvpZ0/icons/view-gri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2212848"/>
            <a:ext cx="201168" cy="201168"/>
          </a:xfrm>
          <a:prstGeom prst="rect">
            <a:avLst/>
          </a:prstGeom>
        </p:spPr>
      </p:pic>
      <p:sp>
        <p:nvSpPr>
          <p:cNvPr id="11" name="row-26"/>
          <p:cNvSpPr txBox="1"/>
          <p:nvPr/>
        </p:nvSpPr>
        <p:spPr>
          <a:xfrm>
            <a:off x="6355080" y="2066544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Four fingers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workspaces; up for an overview</a:t>
            </a:r>
            <a:endParaRPr lang="en-US" sz="1400" dirty="0"/>
          </a:p>
        </p:txBody>
      </p:sp>
      <p:sp>
        <p:nvSpPr>
          <p:cNvPr id="12" name="dot-27"/>
          <p:cNvSpPr/>
          <p:nvPr/>
        </p:nvSpPr>
        <p:spPr>
          <a:xfrm>
            <a:off x="5852160" y="289864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con-28" descr="/tmp/tmp.Shm5PlvpZ0/icons/system-ru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2990088"/>
            <a:ext cx="201168" cy="201168"/>
          </a:xfrm>
          <a:prstGeom prst="rect">
            <a:avLst/>
          </a:prstGeom>
        </p:spPr>
      </p:pic>
      <p:sp>
        <p:nvSpPr>
          <p:cNvPr id="14" name="row-29"/>
          <p:cNvSpPr txBox="1"/>
          <p:nvPr/>
        </p:nvSpPr>
        <p:spPr>
          <a:xfrm>
            <a:off x="6355080" y="2843784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As fast as GNOME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measured, frame for frame</a:t>
            </a:r>
            <a:endParaRPr lang="en-US" sz="1400" dirty="0"/>
          </a:p>
        </p:txBody>
      </p:sp>
      <p:sp>
        <p:nvSpPr>
          <p:cNvPr id="15" name="dot-30"/>
          <p:cNvSpPr/>
          <p:nvPr/>
        </p:nvSpPr>
        <p:spPr>
          <a:xfrm>
            <a:off x="5852160" y="367588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con-31" descr="/tmp/tmp.Shm5PlvpZ0/icons/view-revea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0" y="3767328"/>
            <a:ext cx="201168" cy="201168"/>
          </a:xfrm>
          <a:prstGeom prst="rect">
            <a:avLst/>
          </a:prstGeom>
        </p:spPr>
      </p:pic>
      <p:sp>
        <p:nvSpPr>
          <p:cNvPr id="17" name="row-32"/>
          <p:cNvSpPr txBox="1"/>
          <p:nvPr/>
        </p:nvSpPr>
        <p:spPr>
          <a:xfrm>
            <a:off x="6355080" y="3621024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Steady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same finger travel per window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WINDOWS THAT BEHAVE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Snap, tile, focus. No dragging.</a:t>
            </a:r>
            <a:endParaRPr lang="en-US" sz="3000" dirty="0"/>
          </a:p>
        </p:txBody>
      </p:sp>
      <p:pic>
        <p:nvPicPr>
          <p:cNvPr id="4" name="tiled-33" descr="/tmp/tmp.Shm5PlvpZ0/img/tile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5120640" cy="288036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B1430">
                <a:alpha val="18000"/>
              </a:srgbClr>
            </a:outerShdw>
          </a:effectLst>
        </p:spPr>
      </p:pic>
      <p:sp>
        <p:nvSpPr>
          <p:cNvPr id="5" name="caption-34"/>
          <p:cNvSpPr txBox="1"/>
          <p:nvPr/>
        </p:nvSpPr>
        <p:spPr>
          <a:xfrm>
            <a:off x="457200" y="42519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Halves and quarters with Super and the arrow keys</a:t>
            </a:r>
            <a:endParaRPr lang="en-US" sz="1000" dirty="0"/>
          </a:p>
        </p:txBody>
      </p:sp>
      <p:sp>
        <p:nvSpPr>
          <p:cNvPr id="6" name="dot-35"/>
          <p:cNvSpPr/>
          <p:nvPr/>
        </p:nvSpPr>
        <p:spPr>
          <a:xfrm>
            <a:off x="5852160" y="134416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con-36" descr="/tmp/tmp.Shm5PlvpZ0/icons/view-du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435608"/>
            <a:ext cx="201168" cy="201168"/>
          </a:xfrm>
          <a:prstGeom prst="rect">
            <a:avLst/>
          </a:prstGeom>
        </p:spPr>
      </p:pic>
      <p:sp>
        <p:nvSpPr>
          <p:cNvPr id="8" name="row-37"/>
          <p:cNvSpPr txBox="1"/>
          <p:nvPr/>
        </p:nvSpPr>
        <p:spPr>
          <a:xfrm>
            <a:off x="6355080" y="1289304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Snap layouts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Super+Z, pick one, the rest fill in</a:t>
            </a:r>
            <a:endParaRPr lang="en-US" sz="1400" dirty="0"/>
          </a:p>
        </p:txBody>
      </p:sp>
      <p:sp>
        <p:nvSpPr>
          <p:cNvPr id="9" name="dot-38"/>
          <p:cNvSpPr/>
          <p:nvPr/>
        </p:nvSpPr>
        <p:spPr>
          <a:xfrm>
            <a:off x="5852160" y="212140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-39" descr="/tmp/tmp.Shm5PlvpZ0/icons/window-ne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2212848"/>
            <a:ext cx="201168" cy="201168"/>
          </a:xfrm>
          <a:prstGeom prst="rect">
            <a:avLst/>
          </a:prstGeom>
        </p:spPr>
      </p:pic>
      <p:sp>
        <p:nvSpPr>
          <p:cNvPr id="11" name="row-40"/>
          <p:cNvSpPr txBox="1"/>
          <p:nvPr/>
        </p:nvSpPr>
        <p:spPr>
          <a:xfrm>
            <a:off x="6355080" y="2066544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Snap Assist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offers your other windows for the space</a:t>
            </a:r>
            <a:endParaRPr lang="en-US" sz="1400" dirty="0"/>
          </a:p>
        </p:txBody>
      </p:sp>
      <p:sp>
        <p:nvSpPr>
          <p:cNvPr id="12" name="dot-41"/>
          <p:cNvSpPr/>
          <p:nvPr/>
        </p:nvSpPr>
        <p:spPr>
          <a:xfrm>
            <a:off x="5852160" y="289864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con-42" descr="/tmp/tmp.Shm5PlvpZ0/icons/view-pi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2990088"/>
            <a:ext cx="201168" cy="201168"/>
          </a:xfrm>
          <a:prstGeom prst="rect">
            <a:avLst/>
          </a:prstGeom>
        </p:spPr>
      </p:pic>
      <p:sp>
        <p:nvSpPr>
          <p:cNvPr id="14" name="row-43"/>
          <p:cNvSpPr txBox="1"/>
          <p:nvPr/>
        </p:nvSpPr>
        <p:spPr>
          <a:xfrm>
            <a:off x="6355080" y="2843784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Always on top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Super+Ctrl+T for a video or a calculator</a:t>
            </a:r>
            <a:endParaRPr lang="en-US" sz="1400" dirty="0"/>
          </a:p>
        </p:txBody>
      </p:sp>
      <p:sp>
        <p:nvSpPr>
          <p:cNvPr id="15" name="dot-44"/>
          <p:cNvSpPr/>
          <p:nvPr/>
        </p:nvSpPr>
        <p:spPr>
          <a:xfrm>
            <a:off x="5852160" y="367588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con-45" descr="/tmp/tmp.Shm5PlvpZ0/icons/view-gri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0" y="3767328"/>
            <a:ext cx="201168" cy="201168"/>
          </a:xfrm>
          <a:prstGeom prst="rect">
            <a:avLst/>
          </a:prstGeom>
        </p:spPr>
      </p:pic>
      <p:sp>
        <p:nvSpPr>
          <p:cNvPr id="17" name="row-46"/>
          <p:cNvSpPr txBox="1"/>
          <p:nvPr/>
        </p:nvSpPr>
        <p:spPr>
          <a:xfrm>
            <a:off x="6355080" y="3621024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New desktop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Super+Ctrl+D, Shift takes the window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AFTER YOU LOG IN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 desktop that says hello, and remembers</a:t>
            </a:r>
            <a:endParaRPr lang="en-US" sz="3000" dirty="0"/>
          </a:p>
        </p:txBody>
      </p:sp>
      <p:pic>
        <p:nvPicPr>
          <p:cNvPr id="4" name="welcome-47" descr="/tmp/tmp.Shm5PlvpZ0/img/welcom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5120640" cy="288036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B1430">
                <a:alpha val="18000"/>
              </a:srgbClr>
            </a:outerShdw>
          </a:effectLst>
        </p:spPr>
      </p:pic>
      <p:sp>
        <p:nvSpPr>
          <p:cNvPr id="5" name="caption-48"/>
          <p:cNvSpPr txBox="1"/>
          <p:nvPr/>
        </p:nvSpPr>
        <p:spPr>
          <a:xfrm>
            <a:off x="457200" y="42519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The greeting lands with the light, your tasks underneath</a:t>
            </a:r>
            <a:endParaRPr lang="en-US" sz="1000" dirty="0"/>
          </a:p>
        </p:txBody>
      </p:sp>
      <p:sp>
        <p:nvSpPr>
          <p:cNvPr id="6" name="dot-49"/>
          <p:cNvSpPr/>
          <p:nvPr/>
        </p:nvSpPr>
        <p:spPr>
          <a:xfrm>
            <a:off x="5852160" y="134416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con-50" descr="/tmp/tmp.Shm5PlvpZ0/icons/weather-clear-n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435608"/>
            <a:ext cx="201168" cy="201168"/>
          </a:xfrm>
          <a:prstGeom prst="rect">
            <a:avLst/>
          </a:prstGeom>
        </p:spPr>
      </p:pic>
      <p:sp>
        <p:nvSpPr>
          <p:cNvPr id="8" name="row-51"/>
          <p:cNvSpPr txBox="1"/>
          <p:nvPr/>
        </p:nvSpPr>
        <p:spPr>
          <a:xfrm>
            <a:off x="6355080" y="1289304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Light on time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plays once the desktop is ready</a:t>
            </a:r>
            <a:endParaRPr lang="en-US" sz="1400" dirty="0"/>
          </a:p>
        </p:txBody>
      </p:sp>
      <p:sp>
        <p:nvSpPr>
          <p:cNvPr id="9" name="dot-52"/>
          <p:cNvSpPr/>
          <p:nvPr/>
        </p:nvSpPr>
        <p:spPr>
          <a:xfrm>
            <a:off x="5852160" y="212140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-53" descr="/tmp/tmp.Shm5PlvpZ0/icons/view-p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2212848"/>
            <a:ext cx="201168" cy="201168"/>
          </a:xfrm>
          <a:prstGeom prst="rect">
            <a:avLst/>
          </a:prstGeom>
        </p:spPr>
      </p:pic>
      <p:sp>
        <p:nvSpPr>
          <p:cNvPr id="11" name="row-54"/>
          <p:cNvSpPr txBox="1"/>
          <p:nvPr/>
        </p:nvSpPr>
        <p:spPr>
          <a:xfrm>
            <a:off x="6355080" y="2066544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What's waiting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pinned tasks and today's next reminder</a:t>
            </a:r>
            <a:endParaRPr lang="en-US" sz="1400" dirty="0"/>
          </a:p>
        </p:txBody>
      </p:sp>
      <p:sp>
        <p:nvSpPr>
          <p:cNvPr id="12" name="dot-55"/>
          <p:cNvSpPr/>
          <p:nvPr/>
        </p:nvSpPr>
        <p:spPr>
          <a:xfrm>
            <a:off x="5852160" y="289864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con-56" descr="/tmp/tmp.Shm5PlvpZ0/icons/face-smi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2990088"/>
            <a:ext cx="201168" cy="201168"/>
          </a:xfrm>
          <a:prstGeom prst="rect">
            <a:avLst/>
          </a:prstGeom>
        </p:spPr>
      </p:pic>
      <p:sp>
        <p:nvSpPr>
          <p:cNvPr id="14" name="row-57"/>
          <p:cNvSpPr txBox="1"/>
          <p:nvPr/>
        </p:nvSpPr>
        <p:spPr>
          <a:xfrm>
            <a:off x="6355080" y="2843784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Your way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your name or your own line, spoken if you like</a:t>
            </a:r>
            <a:endParaRPr lang="en-US" sz="1400" dirty="0"/>
          </a:p>
        </p:txBody>
      </p:sp>
      <p:sp>
        <p:nvSpPr>
          <p:cNvPr id="15" name="dot-58"/>
          <p:cNvSpPr/>
          <p:nvPr/>
        </p:nvSpPr>
        <p:spPr>
          <a:xfrm>
            <a:off x="5852160" y="367588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con-59" descr="/tmp/tmp.Shm5PlvpZ0/icons/preferences-colo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0" y="3767328"/>
            <a:ext cx="201168" cy="201168"/>
          </a:xfrm>
          <a:prstGeom prst="rect">
            <a:avLst/>
          </a:prstGeom>
        </p:spPr>
      </p:pic>
      <p:sp>
        <p:nvSpPr>
          <p:cNvPr id="17" name="row-60"/>
          <p:cNvSpPr txBox="1"/>
          <p:nvPr/>
        </p:nvSpPr>
        <p:spPr>
          <a:xfrm>
            <a:off x="6355080" y="3621024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Your colours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taken from your wallpaper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SUPER + 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MK Notes: write, link, draw, find</a:t>
            </a:r>
            <a:endParaRPr lang="en-US" sz="3000" dirty="0"/>
          </a:p>
        </p:txBody>
      </p:sp>
      <p:pic>
        <p:nvPicPr>
          <p:cNvPr id="4" name="notes-split-61" descr="/tmp/tmp.Shm5PlvpZ0/img/notes-spli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4754880" cy="267462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B1430">
                <a:alpha val="18000"/>
              </a:srgbClr>
            </a:outerShdw>
          </a:effectLst>
        </p:spPr>
      </p:pic>
      <p:pic>
        <p:nvPicPr>
          <p:cNvPr id="5" name="phone" descr="/tmp/tmp.Shm5PlvpZ0/img/phone-not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280160"/>
            <a:ext cx="1325880" cy="2679192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B1430">
                <a:alpha val="18000"/>
              </a:srgbClr>
            </a:outerShdw>
          </a:effectLst>
        </p:spPr>
      </p:pic>
      <p:sp>
        <p:nvSpPr>
          <p:cNvPr id="6" name="caption-62"/>
          <p:cNvSpPr txBox="1"/>
          <p:nvPr/>
        </p:nvSpPr>
        <p:spPr>
          <a:xfrm>
            <a:off x="457200" y="406908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Live preview on the laptop, the same notes on your phone</a:t>
            </a:r>
            <a:endParaRPr lang="en-US" sz="1000" dirty="0"/>
          </a:p>
        </p:txBody>
      </p:sp>
      <p:sp>
        <p:nvSpPr>
          <p:cNvPr id="7" name="dot-63"/>
          <p:cNvSpPr/>
          <p:nvPr/>
        </p:nvSpPr>
        <p:spPr>
          <a:xfrm>
            <a:off x="6949440" y="134416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icon-64" descr="/tmp/tmp.Shm5PlvpZ0/icons/x-office-docume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1435608"/>
            <a:ext cx="201168" cy="201168"/>
          </a:xfrm>
          <a:prstGeom prst="rect">
            <a:avLst/>
          </a:prstGeom>
        </p:spPr>
      </p:pic>
      <p:sp>
        <p:nvSpPr>
          <p:cNvPr id="9" name="row-65"/>
          <p:cNvSpPr txBox="1"/>
          <p:nvPr/>
        </p:nvSpPr>
        <p:spPr>
          <a:xfrm>
            <a:off x="7452360" y="1289304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Your files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plain Markdown you own</a:t>
            </a:r>
            <a:endParaRPr lang="en-US" sz="1400" dirty="0"/>
          </a:p>
        </p:txBody>
      </p:sp>
      <p:sp>
        <p:nvSpPr>
          <p:cNvPr id="10" name="dot-66"/>
          <p:cNvSpPr/>
          <p:nvPr/>
        </p:nvSpPr>
        <p:spPr>
          <a:xfrm>
            <a:off x="6949440" y="207568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con-67" descr="/tmp/tmp.Shm5PlvpZ0/icons/network-workgrou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0" y="2167128"/>
            <a:ext cx="201168" cy="201168"/>
          </a:xfrm>
          <a:prstGeom prst="rect">
            <a:avLst/>
          </a:prstGeom>
        </p:spPr>
      </p:pic>
      <p:sp>
        <p:nvSpPr>
          <p:cNvPr id="12" name="row-68"/>
          <p:cNvSpPr txBox="1"/>
          <p:nvPr/>
        </p:nvSpPr>
        <p:spPr>
          <a:xfrm>
            <a:off x="7452360" y="2020824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Linked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links, backlinks, graph</a:t>
            </a:r>
            <a:endParaRPr lang="en-US" sz="1400" dirty="0"/>
          </a:p>
        </p:txBody>
      </p:sp>
      <p:sp>
        <p:nvSpPr>
          <p:cNvPr id="13" name="dot-69"/>
          <p:cNvSpPr/>
          <p:nvPr/>
        </p:nvSpPr>
        <p:spPr>
          <a:xfrm>
            <a:off x="6949440" y="280720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con-70" descr="/tmp/tmp.Shm5PlvpZ0/icons/applications-graphic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0" y="2898648"/>
            <a:ext cx="201168" cy="201168"/>
          </a:xfrm>
          <a:prstGeom prst="rect">
            <a:avLst/>
          </a:prstGeom>
        </p:spPr>
      </p:pic>
      <p:sp>
        <p:nvSpPr>
          <p:cNvPr id="15" name="row-71"/>
          <p:cNvSpPr txBox="1"/>
          <p:nvPr/>
        </p:nvSpPr>
        <p:spPr>
          <a:xfrm>
            <a:off x="7452360" y="2752344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Drawn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pen with pressure</a:t>
            </a:r>
            <a:endParaRPr lang="en-US" sz="1400" dirty="0"/>
          </a:p>
        </p:txBody>
      </p:sp>
      <p:sp>
        <p:nvSpPr>
          <p:cNvPr id="16" name="dot-72"/>
          <p:cNvSpPr/>
          <p:nvPr/>
        </p:nvSpPr>
        <p:spPr>
          <a:xfrm>
            <a:off x="6949440" y="353872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con-73" descr="/tmp/tmp.Shm5PlvpZ0/icons/edit-pas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0" y="3630168"/>
            <a:ext cx="201168" cy="201168"/>
          </a:xfrm>
          <a:prstGeom prst="rect">
            <a:avLst/>
          </a:prstGeom>
        </p:spPr>
      </p:pic>
      <p:sp>
        <p:nvSpPr>
          <p:cNvPr id="18" name="row-74"/>
          <p:cNvSpPr txBox="1"/>
          <p:nvPr/>
        </p:nvSpPr>
        <p:spPr>
          <a:xfrm>
            <a:off x="7452360" y="3483864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Pasted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screenshots straight in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MK NOTES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The features you'd normally pay for</a:t>
            </a:r>
            <a:endParaRPr lang="en-US" sz="3000" dirty="0"/>
          </a:p>
        </p:txBody>
      </p:sp>
      <p:sp>
        <p:nvSpPr>
          <p:cNvPr id="4" name="card-75"/>
          <p:cNvSpPr/>
          <p:nvPr/>
        </p:nvSpPr>
        <p:spPr>
          <a:xfrm>
            <a:off x="457200" y="1280160"/>
            <a:ext cx="192024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5" name="dot-76"/>
          <p:cNvSpPr/>
          <p:nvPr/>
        </p:nvSpPr>
        <p:spPr>
          <a:xfrm>
            <a:off x="640080" y="14630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-77" descr="/tmp/tmp.Shm5PlvpZ0/icons/emblem-syst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54480"/>
            <a:ext cx="201168" cy="201168"/>
          </a:xfrm>
          <a:prstGeom prst="rect">
            <a:avLst/>
          </a:prstGeom>
        </p:spPr>
      </p:pic>
      <p:sp>
        <p:nvSpPr>
          <p:cNvPr id="7" name="cardtext-78"/>
          <p:cNvSpPr txBox="1"/>
          <p:nvPr/>
        </p:nvSpPr>
        <p:spPr>
          <a:xfrm>
            <a:off x="640080" y="193852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Phone sync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browser or Android, offline, over Wi-Fi</a:t>
            </a:r>
            <a:endParaRPr lang="en-US" sz="1500" dirty="0"/>
          </a:p>
        </p:txBody>
      </p:sp>
      <p:sp>
        <p:nvSpPr>
          <p:cNvPr id="8" name="card-79"/>
          <p:cNvSpPr/>
          <p:nvPr/>
        </p:nvSpPr>
        <p:spPr>
          <a:xfrm>
            <a:off x="2542032" y="1280160"/>
            <a:ext cx="192024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9" name="dot-80"/>
          <p:cNvSpPr/>
          <p:nvPr/>
        </p:nvSpPr>
        <p:spPr>
          <a:xfrm>
            <a:off x="2724912" y="14630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-81" descr="/tmp/tmp.Shm5PlvpZ0/icons/x-office-docum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1554480"/>
            <a:ext cx="201168" cy="201168"/>
          </a:xfrm>
          <a:prstGeom prst="rect">
            <a:avLst/>
          </a:prstGeom>
        </p:spPr>
      </p:pic>
      <p:sp>
        <p:nvSpPr>
          <p:cNvPr id="11" name="cardtext-82"/>
          <p:cNvSpPr txBox="1"/>
          <p:nvPr/>
        </p:nvSpPr>
        <p:spPr>
          <a:xfrm>
            <a:off x="2724912" y="193852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PDF export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one click, with pictures</a:t>
            </a:r>
            <a:endParaRPr lang="en-US" sz="1500" dirty="0"/>
          </a:p>
        </p:txBody>
      </p:sp>
      <p:sp>
        <p:nvSpPr>
          <p:cNvPr id="12" name="card-83"/>
          <p:cNvSpPr/>
          <p:nvPr/>
        </p:nvSpPr>
        <p:spPr>
          <a:xfrm>
            <a:off x="4626864" y="1280160"/>
            <a:ext cx="192024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3" name="dot-84"/>
          <p:cNvSpPr/>
          <p:nvPr/>
        </p:nvSpPr>
        <p:spPr>
          <a:xfrm>
            <a:off x="4809744" y="14630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con-85" descr="/tmp/tmp.Shm5PlvpZ0/icons/network-workgro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1184" y="1554480"/>
            <a:ext cx="201168" cy="201168"/>
          </a:xfrm>
          <a:prstGeom prst="rect">
            <a:avLst/>
          </a:prstGeom>
        </p:spPr>
      </p:pic>
      <p:sp>
        <p:nvSpPr>
          <p:cNvPr id="15" name="cardtext-86"/>
          <p:cNvSpPr txBox="1"/>
          <p:nvPr/>
        </p:nvSpPr>
        <p:spPr>
          <a:xfrm>
            <a:off x="4809744" y="193852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Your website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publish notes as web pages</a:t>
            </a:r>
            <a:endParaRPr lang="en-US" sz="1500" dirty="0"/>
          </a:p>
        </p:txBody>
      </p:sp>
      <p:sp>
        <p:nvSpPr>
          <p:cNvPr id="16" name="card-87"/>
          <p:cNvSpPr/>
          <p:nvPr/>
        </p:nvSpPr>
        <p:spPr>
          <a:xfrm>
            <a:off x="6711696" y="1280160"/>
            <a:ext cx="192024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7" name="dot-88"/>
          <p:cNvSpPr/>
          <p:nvPr/>
        </p:nvSpPr>
        <p:spPr>
          <a:xfrm>
            <a:off x="6894576" y="14630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con-89" descr="/tmp/tmp.Shm5PlvpZ0/icons/document-open-rec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6016" y="1554480"/>
            <a:ext cx="201168" cy="201168"/>
          </a:xfrm>
          <a:prstGeom prst="rect">
            <a:avLst/>
          </a:prstGeom>
        </p:spPr>
      </p:pic>
      <p:sp>
        <p:nvSpPr>
          <p:cNvPr id="19" name="cardtext-90"/>
          <p:cNvSpPr txBox="1"/>
          <p:nvPr/>
        </p:nvSpPr>
        <p:spPr>
          <a:xfrm>
            <a:off x="6894576" y="193852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Version history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how a note looked this morning</a:t>
            </a:r>
            <a:endParaRPr lang="en-US" sz="1500" dirty="0"/>
          </a:p>
        </p:txBody>
      </p:sp>
      <p:sp>
        <p:nvSpPr>
          <p:cNvPr id="20" name="card-91"/>
          <p:cNvSpPr/>
          <p:nvPr/>
        </p:nvSpPr>
        <p:spPr>
          <a:xfrm>
            <a:off x="457200" y="2971800"/>
            <a:ext cx="192024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21" name="dot-92"/>
          <p:cNvSpPr/>
          <p:nvPr/>
        </p:nvSpPr>
        <p:spPr>
          <a:xfrm>
            <a:off x="640080" y="31546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2" name="icon-93" descr="/tmp/tmp.Shm5PlvpZ0/icons/x-office-calenda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3246120"/>
            <a:ext cx="201168" cy="201168"/>
          </a:xfrm>
          <a:prstGeom prst="rect">
            <a:avLst/>
          </a:prstGeom>
        </p:spPr>
      </p:pic>
      <p:sp>
        <p:nvSpPr>
          <p:cNvPr id="23" name="cardtext-94"/>
          <p:cNvSpPr txBox="1"/>
          <p:nvPr/>
        </p:nvSpPr>
        <p:spPr>
          <a:xfrm>
            <a:off x="640080" y="363016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Daily notes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a calendar of the days you wrote</a:t>
            </a:r>
            <a:endParaRPr lang="en-US" sz="1500" dirty="0"/>
          </a:p>
        </p:txBody>
      </p:sp>
      <p:sp>
        <p:nvSpPr>
          <p:cNvPr id="24" name="card-95"/>
          <p:cNvSpPr/>
          <p:nvPr/>
        </p:nvSpPr>
        <p:spPr>
          <a:xfrm>
            <a:off x="2542032" y="2971800"/>
            <a:ext cx="192024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25" name="dot-96"/>
          <p:cNvSpPr/>
          <p:nvPr/>
        </p:nvSpPr>
        <p:spPr>
          <a:xfrm>
            <a:off x="2724912" y="31546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icon-97" descr="/tmp/tmp.Shm5PlvpZ0/icons/checkbox-check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16352" y="3246120"/>
            <a:ext cx="201168" cy="201168"/>
          </a:xfrm>
          <a:prstGeom prst="rect">
            <a:avLst/>
          </a:prstGeom>
        </p:spPr>
      </p:pic>
      <p:sp>
        <p:nvSpPr>
          <p:cNvPr id="27" name="cardtext-98"/>
          <p:cNvSpPr txBox="1"/>
          <p:nvPr/>
        </p:nvSpPr>
        <p:spPr>
          <a:xfrm>
            <a:off x="2724912" y="363016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Tasks view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every checkbox, in one list</a:t>
            </a:r>
            <a:endParaRPr lang="en-US" sz="1500" dirty="0"/>
          </a:p>
        </p:txBody>
      </p:sp>
      <p:sp>
        <p:nvSpPr>
          <p:cNvPr id="28" name="card-99"/>
          <p:cNvSpPr/>
          <p:nvPr/>
        </p:nvSpPr>
        <p:spPr>
          <a:xfrm>
            <a:off x="4626864" y="2971800"/>
            <a:ext cx="192024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29" name="dot-100"/>
          <p:cNvSpPr/>
          <p:nvPr/>
        </p:nvSpPr>
        <p:spPr>
          <a:xfrm>
            <a:off x="4809744" y="31546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icon-101" descr="/tmp/tmp.Shm5PlvpZ0/icons/view-reveal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01184" y="3246120"/>
            <a:ext cx="201168" cy="201168"/>
          </a:xfrm>
          <a:prstGeom prst="rect">
            <a:avLst/>
          </a:prstGeom>
        </p:spPr>
      </p:pic>
      <p:sp>
        <p:nvSpPr>
          <p:cNvPr id="31" name="cardtext-102"/>
          <p:cNvSpPr txBox="1"/>
          <p:nvPr/>
        </p:nvSpPr>
        <p:spPr>
          <a:xfrm>
            <a:off x="4809744" y="363016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Focus mode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F11: nothing but the words</a:t>
            </a:r>
            <a:endParaRPr lang="en-US" sz="1500" dirty="0"/>
          </a:p>
        </p:txBody>
      </p:sp>
      <p:sp>
        <p:nvSpPr>
          <p:cNvPr id="32" name="card-103"/>
          <p:cNvSpPr/>
          <p:nvPr/>
        </p:nvSpPr>
        <p:spPr>
          <a:xfrm>
            <a:off x="6711696" y="2971800"/>
            <a:ext cx="192024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33" name="dot-104"/>
          <p:cNvSpPr/>
          <p:nvPr/>
        </p:nvSpPr>
        <p:spPr>
          <a:xfrm>
            <a:off x="6894576" y="31546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4" name="icon-105" descr="/tmp/tmp.Shm5PlvpZ0/icons/preferences-color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86016" y="3246120"/>
            <a:ext cx="201168" cy="201168"/>
          </a:xfrm>
          <a:prstGeom prst="rect">
            <a:avLst/>
          </a:prstGeom>
        </p:spPr>
      </p:pic>
      <p:sp>
        <p:nvSpPr>
          <p:cNvPr id="35" name="cardtext-106"/>
          <p:cNvSpPr txBox="1"/>
          <p:nvPr/>
        </p:nvSpPr>
        <p:spPr>
          <a:xfrm>
            <a:off x="6894576" y="363016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Your look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theme, font, size, spacing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FOCUS TIMER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Step away. It notices.</a:t>
            </a:r>
            <a:endParaRPr lang="en-US" sz="3000" dirty="0"/>
          </a:p>
        </p:txBody>
      </p:sp>
      <p:pic>
        <p:nvPicPr>
          <p:cNvPr id="4" name="saver-bubbles-107" descr="/tmp/tmp.Shm5PlvpZ0/img/saver-bubbl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4023360" cy="226314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B1430">
                <a:alpha val="18000"/>
              </a:srgbClr>
            </a:outerShdw>
          </a:effectLst>
        </p:spPr>
      </p:pic>
      <p:pic>
        <p:nvPicPr>
          <p:cNvPr id="5" name="saver-starfield-108" descr="/tmp/tmp.Shm5PlvpZ0/img/saver-starfiel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280160"/>
            <a:ext cx="4023360" cy="226314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B1430">
                <a:alpha val="18000"/>
              </a:srgbClr>
            </a:outerShdw>
          </a:effectLst>
        </p:spPr>
      </p:pic>
      <p:sp>
        <p:nvSpPr>
          <p:cNvPr id="6" name="caption-109"/>
          <p:cNvSpPr txBox="1"/>
          <p:nvPr/>
        </p:nvSpPr>
        <p:spPr>
          <a:xfrm>
            <a:off x="457200" y="3611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Bubbles or a starfield over your work; any touch and you're back</a:t>
            </a:r>
            <a:endParaRPr lang="en-US" sz="1000" dirty="0"/>
          </a:p>
        </p:txBody>
      </p:sp>
      <p:sp>
        <p:nvSpPr>
          <p:cNvPr id="7" name="dot-110"/>
          <p:cNvSpPr/>
          <p:nvPr/>
        </p:nvSpPr>
        <p:spPr>
          <a:xfrm>
            <a:off x="457200" y="399592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icon-111" descr="/tmp/tmp.Shm5PlvpZ0/icons/ala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087368"/>
            <a:ext cx="201168" cy="201168"/>
          </a:xfrm>
          <a:prstGeom prst="rect">
            <a:avLst/>
          </a:prstGeom>
        </p:spPr>
      </p:pic>
      <p:sp>
        <p:nvSpPr>
          <p:cNvPr id="9" name="row-112"/>
          <p:cNvSpPr txBox="1"/>
          <p:nvPr/>
        </p:nvSpPr>
        <p:spPr>
          <a:xfrm>
            <a:off x="960120" y="3941064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Counts down in the top bar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the window gets out of your way</a:t>
            </a:r>
            <a:endParaRPr lang="en-US" sz="1400" dirty="0"/>
          </a:p>
        </p:txBody>
      </p:sp>
      <p:sp>
        <p:nvSpPr>
          <p:cNvPr id="10" name="dot-113"/>
          <p:cNvSpPr/>
          <p:nvPr/>
        </p:nvSpPr>
        <p:spPr>
          <a:xfrm>
            <a:off x="4663440" y="399592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con-114" descr="/tmp/tmp.Shm5PlvpZ0/icons/face-smi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4087368"/>
            <a:ext cx="201168" cy="201168"/>
          </a:xfrm>
          <a:prstGeom prst="rect">
            <a:avLst/>
          </a:prstGeom>
        </p:spPr>
      </p:pic>
      <p:sp>
        <p:nvSpPr>
          <p:cNvPr id="12" name="row-115"/>
          <p:cNvSpPr txBox="1"/>
          <p:nvPr/>
        </p:nvSpPr>
        <p:spPr>
          <a:xfrm>
            <a:off x="5166360" y="3941064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A celebration, not an alarm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a little party when time's up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THE TOP BAR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Everything you check, one click away</a:t>
            </a:r>
            <a:endParaRPr lang="en-US" sz="3000" dirty="0"/>
          </a:p>
        </p:txBody>
      </p:sp>
      <p:pic>
        <p:nvPicPr>
          <p:cNvPr id="4" name="monitor" descr="/tmp/tmp.Shm5PlvpZ0/img/monito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2651760" cy="237744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B1430">
                <a:alpha val="18000"/>
              </a:srgbClr>
            </a:outerShdw>
          </a:effectLst>
        </p:spPr>
      </p:pic>
      <p:pic>
        <p:nvPicPr>
          <p:cNvPr id="5" name="quick" descr="/tmp/tmp.Shm5PlvpZ0/img/quick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280160"/>
            <a:ext cx="2075688" cy="237744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B1430">
                <a:alpha val="18000"/>
              </a:srgbClr>
            </a:outerShdw>
          </a:effectLst>
        </p:spPr>
      </p:pic>
      <p:sp>
        <p:nvSpPr>
          <p:cNvPr id="6" name="caption-116"/>
          <p:cNvSpPr txBox="1"/>
          <p:nvPr/>
        </p:nvSpPr>
        <p:spPr>
          <a:xfrm>
            <a:off x="457200" y="37490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System monitor and Quick Settings</a:t>
            </a:r>
            <a:endParaRPr lang="en-US" sz="1000" dirty="0"/>
          </a:p>
        </p:txBody>
      </p:sp>
      <p:sp>
        <p:nvSpPr>
          <p:cNvPr id="7" name="dot-117"/>
          <p:cNvSpPr/>
          <p:nvPr/>
        </p:nvSpPr>
        <p:spPr>
          <a:xfrm>
            <a:off x="5669280" y="134416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icon-118" descr="/tmp/tmp.Shm5PlvpZ0/icons/video-displa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1435608"/>
            <a:ext cx="201168" cy="201168"/>
          </a:xfrm>
          <a:prstGeom prst="rect">
            <a:avLst/>
          </a:prstGeom>
        </p:spPr>
      </p:pic>
      <p:sp>
        <p:nvSpPr>
          <p:cNvPr id="9" name="row-119"/>
          <p:cNvSpPr txBox="1"/>
          <p:nvPr/>
        </p:nvSpPr>
        <p:spPr>
          <a:xfrm>
            <a:off x="6172200" y="1289304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System monitor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CPU, memory, temperatures, battery draw</a:t>
            </a:r>
            <a:endParaRPr lang="en-US" sz="1400" dirty="0"/>
          </a:p>
        </p:txBody>
      </p:sp>
      <p:sp>
        <p:nvSpPr>
          <p:cNvPr id="10" name="dot-120"/>
          <p:cNvSpPr/>
          <p:nvPr/>
        </p:nvSpPr>
        <p:spPr>
          <a:xfrm>
            <a:off x="5669280" y="212140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con-121" descr="/tmp/tmp.Shm5PlvpZ0/icons/edit-pas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2212848"/>
            <a:ext cx="201168" cy="201168"/>
          </a:xfrm>
          <a:prstGeom prst="rect">
            <a:avLst/>
          </a:prstGeom>
        </p:spPr>
      </p:pic>
      <p:sp>
        <p:nvSpPr>
          <p:cNvPr id="12" name="row-122"/>
          <p:cNvSpPr txBox="1"/>
          <p:nvPr/>
        </p:nvSpPr>
        <p:spPr>
          <a:xfrm>
            <a:off x="6172200" y="2066544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Clipboard history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Super+V brings back what you copied</a:t>
            </a:r>
            <a:endParaRPr lang="en-US" sz="1400" dirty="0"/>
          </a:p>
        </p:txBody>
      </p:sp>
      <p:sp>
        <p:nvSpPr>
          <p:cNvPr id="13" name="dot-123"/>
          <p:cNvSpPr/>
          <p:nvPr/>
        </p:nvSpPr>
        <p:spPr>
          <a:xfrm>
            <a:off x="5669280" y="289864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con-124" descr="/tmp/tmp.Shm5PlvpZ0/icons/weather-clear-nigh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2990088"/>
            <a:ext cx="201168" cy="201168"/>
          </a:xfrm>
          <a:prstGeom prst="rect">
            <a:avLst/>
          </a:prstGeom>
        </p:spPr>
      </p:pic>
      <p:sp>
        <p:nvSpPr>
          <p:cNvPr id="15" name="row-125"/>
          <p:cNvSpPr txBox="1"/>
          <p:nvPr/>
        </p:nvSpPr>
        <p:spPr>
          <a:xfrm>
            <a:off x="6172200" y="2843784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Keep awake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one switch for films and downloads</a:t>
            </a:r>
            <a:endParaRPr lang="en-US" sz="1400" dirty="0"/>
          </a:p>
        </p:txBody>
      </p:sp>
      <p:sp>
        <p:nvSpPr>
          <p:cNvPr id="16" name="dot-126"/>
          <p:cNvSpPr/>
          <p:nvPr/>
        </p:nvSpPr>
        <p:spPr>
          <a:xfrm>
            <a:off x="5669280" y="367588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con-127" descr="/tmp/tmp.Shm5PlvpZ0/icons/view-gri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720" y="3767328"/>
            <a:ext cx="201168" cy="201168"/>
          </a:xfrm>
          <a:prstGeom prst="rect">
            <a:avLst/>
          </a:prstGeom>
        </p:spPr>
      </p:pic>
      <p:sp>
        <p:nvSpPr>
          <p:cNvPr id="18" name="row-128"/>
          <p:cNvSpPr txBox="1"/>
          <p:nvPr/>
        </p:nvSpPr>
        <p:spPr>
          <a:xfrm>
            <a:off x="6172200" y="3621024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Tray icons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chat apps and launchers, like anywhere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APPS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Installed and ready on first login</a:t>
            </a:r>
            <a:endParaRPr lang="en-US" sz="3000" dirty="0"/>
          </a:p>
        </p:txBody>
      </p:sp>
      <p:pic>
        <p:nvPicPr>
          <p:cNvPr id="4" name="app-129" descr="/tmp/tmp.Shm5PlvpZ0/apps/app.zen_browser.z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25880"/>
            <a:ext cx="640080" cy="640080"/>
          </a:xfrm>
          <a:prstGeom prst="rect">
            <a:avLst/>
          </a:prstGeom>
        </p:spPr>
      </p:pic>
      <p:sp>
        <p:nvSpPr>
          <p:cNvPr id="5" name="applabel-130"/>
          <p:cNvSpPr txBox="1"/>
          <p:nvPr/>
        </p:nvSpPr>
        <p:spPr>
          <a:xfrm>
            <a:off x="457200" y="203911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Zen Browser</a:t>
            </a:r>
            <a:endParaRPr lang="en-US" sz="1200" dirty="0"/>
          </a:p>
        </p:txBody>
      </p:sp>
      <p:pic>
        <p:nvPicPr>
          <p:cNvPr id="6" name="app-131" descr="/tmp/tmp.Shm5PlvpZ0/apps/net.cozic.joplin_deskt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1325880"/>
            <a:ext cx="640080" cy="640080"/>
          </a:xfrm>
          <a:prstGeom prst="rect">
            <a:avLst/>
          </a:prstGeom>
        </p:spPr>
      </p:pic>
      <p:sp>
        <p:nvSpPr>
          <p:cNvPr id="7" name="applabel-132"/>
          <p:cNvSpPr txBox="1"/>
          <p:nvPr/>
        </p:nvSpPr>
        <p:spPr>
          <a:xfrm>
            <a:off x="1645920" y="203911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Joplin</a:t>
            </a:r>
            <a:endParaRPr lang="en-US" sz="1200" dirty="0"/>
          </a:p>
        </p:txBody>
      </p:sp>
      <p:pic>
        <p:nvPicPr>
          <p:cNvPr id="8" name="app-133" descr="/tmp/tmp.Shm5PlvpZ0/apps/org.onlyoffice.desktopedito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960" y="1325880"/>
            <a:ext cx="640080" cy="640080"/>
          </a:xfrm>
          <a:prstGeom prst="rect">
            <a:avLst/>
          </a:prstGeom>
        </p:spPr>
      </p:pic>
      <p:sp>
        <p:nvSpPr>
          <p:cNvPr id="9" name="applabel-134"/>
          <p:cNvSpPr txBox="1"/>
          <p:nvPr/>
        </p:nvSpPr>
        <p:spPr>
          <a:xfrm>
            <a:off x="2834640" y="203911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ONLYOFFICE</a:t>
            </a:r>
            <a:endParaRPr lang="en-US" sz="1200" dirty="0"/>
          </a:p>
        </p:txBody>
      </p:sp>
      <p:pic>
        <p:nvPicPr>
          <p:cNvPr id="10" name="app-135" descr="/tmp/tmp.Shm5PlvpZ0/apps/vscod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1325880"/>
            <a:ext cx="640080" cy="640080"/>
          </a:xfrm>
          <a:prstGeom prst="rect">
            <a:avLst/>
          </a:prstGeom>
        </p:spPr>
      </p:pic>
      <p:sp>
        <p:nvSpPr>
          <p:cNvPr id="11" name="applabel-136"/>
          <p:cNvSpPr txBox="1"/>
          <p:nvPr/>
        </p:nvSpPr>
        <p:spPr>
          <a:xfrm>
            <a:off x="4023360" y="203911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VS Code</a:t>
            </a:r>
            <a:endParaRPr lang="en-US" sz="1200" dirty="0"/>
          </a:p>
        </p:txBody>
      </p:sp>
      <p:pic>
        <p:nvPicPr>
          <p:cNvPr id="12" name="app-137" descr="/tmp/tmp.Shm5PlvpZ0/apps/com.spotify.Clien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0" y="1325880"/>
            <a:ext cx="640080" cy="640080"/>
          </a:xfrm>
          <a:prstGeom prst="rect">
            <a:avLst/>
          </a:prstGeom>
        </p:spPr>
      </p:pic>
      <p:sp>
        <p:nvSpPr>
          <p:cNvPr id="13" name="applabel-138"/>
          <p:cNvSpPr txBox="1"/>
          <p:nvPr/>
        </p:nvSpPr>
        <p:spPr>
          <a:xfrm>
            <a:off x="5212080" y="203911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Spotify</a:t>
            </a:r>
            <a:endParaRPr lang="en-US" sz="1200" dirty="0"/>
          </a:p>
        </p:txBody>
      </p:sp>
      <p:pic>
        <p:nvPicPr>
          <p:cNvPr id="14" name="app-139" descr="/tmp/tmp.Shm5PlvpZ0/apps/net.lutris.Lutri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5120" y="1325880"/>
            <a:ext cx="640080" cy="640080"/>
          </a:xfrm>
          <a:prstGeom prst="rect">
            <a:avLst/>
          </a:prstGeom>
        </p:spPr>
      </p:pic>
      <p:sp>
        <p:nvSpPr>
          <p:cNvPr id="15" name="applabel-140"/>
          <p:cNvSpPr txBox="1"/>
          <p:nvPr/>
        </p:nvSpPr>
        <p:spPr>
          <a:xfrm>
            <a:off x="6400800" y="203911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Lutris</a:t>
            </a:r>
            <a:endParaRPr lang="en-US" sz="1200" dirty="0"/>
          </a:p>
        </p:txBody>
      </p:sp>
      <p:pic>
        <p:nvPicPr>
          <p:cNvPr id="16" name="app-141" descr="/tmp/tmp.Shm5PlvpZ0/apps/com.mattjakeman.ExtensionManage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63840" y="1325880"/>
            <a:ext cx="640080" cy="640080"/>
          </a:xfrm>
          <a:prstGeom prst="rect">
            <a:avLst/>
          </a:prstGeom>
        </p:spPr>
      </p:pic>
      <p:sp>
        <p:nvSpPr>
          <p:cNvPr id="17" name="applabel-142"/>
          <p:cNvSpPr txBox="1"/>
          <p:nvPr/>
        </p:nvSpPr>
        <p:spPr>
          <a:xfrm>
            <a:off x="7589520" y="203911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Extensions</a:t>
            </a:r>
            <a:endParaRPr lang="en-US" sz="1200" dirty="0"/>
          </a:p>
        </p:txBody>
      </p:sp>
      <p:pic>
        <p:nvPicPr>
          <p:cNvPr id="18" name="app-143" descr="/tmp/tmp.Shm5PlvpZ0/apps/net.sonobus.SonoBu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1520" y="2651760"/>
            <a:ext cx="640080" cy="640080"/>
          </a:xfrm>
          <a:prstGeom prst="rect">
            <a:avLst/>
          </a:prstGeom>
        </p:spPr>
      </p:pic>
      <p:sp>
        <p:nvSpPr>
          <p:cNvPr id="19" name="applabel-144"/>
          <p:cNvSpPr txBox="1"/>
          <p:nvPr/>
        </p:nvSpPr>
        <p:spPr>
          <a:xfrm>
            <a:off x="457200" y="3364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SonoBus</a:t>
            </a:r>
            <a:endParaRPr lang="en-US" sz="1200" dirty="0"/>
          </a:p>
        </p:txBody>
      </p:sp>
      <p:pic>
        <p:nvPicPr>
          <p:cNvPr id="20" name="app-145" descr="/tmp/tmp.Shm5PlvpZ0/apps/com.github.tenderowl.frog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20240" y="2651760"/>
            <a:ext cx="640080" cy="640080"/>
          </a:xfrm>
          <a:prstGeom prst="rect">
            <a:avLst/>
          </a:prstGeom>
        </p:spPr>
      </p:pic>
      <p:sp>
        <p:nvSpPr>
          <p:cNvPr id="21" name="applabel-146"/>
          <p:cNvSpPr txBox="1"/>
          <p:nvPr/>
        </p:nvSpPr>
        <p:spPr>
          <a:xfrm>
            <a:off x="1645920" y="3364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Frog</a:t>
            </a:r>
            <a:endParaRPr lang="en-US" sz="1200" dirty="0"/>
          </a:p>
        </p:txBody>
      </p:sp>
      <p:pic>
        <p:nvPicPr>
          <p:cNvPr id="22" name="app-147" descr="/tmp/tmp.Shm5PlvpZ0/apps/one.alynx.FlipClock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08960" y="2651760"/>
            <a:ext cx="640080" cy="640080"/>
          </a:xfrm>
          <a:prstGeom prst="rect">
            <a:avLst/>
          </a:prstGeom>
        </p:spPr>
      </p:pic>
      <p:sp>
        <p:nvSpPr>
          <p:cNvPr id="23" name="applabel-148"/>
          <p:cNvSpPr txBox="1"/>
          <p:nvPr/>
        </p:nvSpPr>
        <p:spPr>
          <a:xfrm>
            <a:off x="2834640" y="3364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FlipClock</a:t>
            </a:r>
            <a:endParaRPr lang="en-US" sz="1200" dirty="0"/>
          </a:p>
        </p:txBody>
      </p:sp>
      <p:pic>
        <p:nvPicPr>
          <p:cNvPr id="24" name="app-149" descr="/tmp/tmp.Shm5PlvpZ0/apps/io.github.mehulk.MkNotes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97680" y="2651760"/>
            <a:ext cx="640080" cy="640080"/>
          </a:xfrm>
          <a:prstGeom prst="rect">
            <a:avLst/>
          </a:prstGeom>
        </p:spPr>
      </p:pic>
      <p:sp>
        <p:nvSpPr>
          <p:cNvPr id="25" name="applabel-150"/>
          <p:cNvSpPr txBox="1"/>
          <p:nvPr/>
        </p:nvSpPr>
        <p:spPr>
          <a:xfrm>
            <a:off x="4023360" y="3364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MK Notes</a:t>
            </a:r>
            <a:endParaRPr lang="en-US" sz="1200" dirty="0"/>
          </a:p>
        </p:txBody>
      </p:sp>
      <p:pic>
        <p:nvPicPr>
          <p:cNvPr id="26" name="app-151" descr="/tmp/tmp.Shm5PlvpZ0/apps/io.github.mehulk.MkCompanion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486400" y="2651760"/>
            <a:ext cx="640080" cy="640080"/>
          </a:xfrm>
          <a:prstGeom prst="rect">
            <a:avLst/>
          </a:prstGeom>
        </p:spPr>
      </p:pic>
      <p:sp>
        <p:nvSpPr>
          <p:cNvPr id="27" name="applabel-152"/>
          <p:cNvSpPr txBox="1"/>
          <p:nvPr/>
        </p:nvSpPr>
        <p:spPr>
          <a:xfrm>
            <a:off x="5212080" y="3364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Companion</a:t>
            </a:r>
            <a:endParaRPr lang="en-US" sz="1200" dirty="0"/>
          </a:p>
        </p:txBody>
      </p:sp>
      <p:pic>
        <p:nvPicPr>
          <p:cNvPr id="28" name="app-153" descr="/tmp/tmp.Shm5PlvpZ0/apps/io.github.mehulk.MkTimer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675120" y="2651760"/>
            <a:ext cx="640080" cy="640080"/>
          </a:xfrm>
          <a:prstGeom prst="rect">
            <a:avLst/>
          </a:prstGeom>
        </p:spPr>
      </p:pic>
      <p:sp>
        <p:nvSpPr>
          <p:cNvPr id="29" name="applabel-154"/>
          <p:cNvSpPr txBox="1"/>
          <p:nvPr/>
        </p:nvSpPr>
        <p:spPr>
          <a:xfrm>
            <a:off x="6400800" y="3364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Focus Timer</a:t>
            </a:r>
            <a:endParaRPr lang="en-US" sz="1200" dirty="0"/>
          </a:p>
        </p:txBody>
      </p:sp>
      <p:pic>
        <p:nvPicPr>
          <p:cNvPr id="30" name="app-155" descr="/tmp/tmp.Shm5PlvpZ0/apps/io.github.mehulk.MkShortcuts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63840" y="2651760"/>
            <a:ext cx="640080" cy="640080"/>
          </a:xfrm>
          <a:prstGeom prst="rect">
            <a:avLst/>
          </a:prstGeom>
        </p:spPr>
      </p:pic>
      <p:sp>
        <p:nvSpPr>
          <p:cNvPr id="31" name="applabel-156"/>
          <p:cNvSpPr txBox="1"/>
          <p:nvPr/>
        </p:nvSpPr>
        <p:spPr>
          <a:xfrm>
            <a:off x="7589520" y="3364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Shortcuts</a:t>
            </a:r>
            <a:endParaRPr lang="en-US" sz="1200" dirty="0"/>
          </a:p>
        </p:txBody>
      </p:sp>
      <p:sp>
        <p:nvSpPr>
          <p:cNvPr id="32" name="Text 16"/>
          <p:cNvSpPr txBox="1"/>
          <p:nvPr/>
        </p:nvSpPr>
        <p:spPr>
          <a:xfrm>
            <a:off x="457200" y="4023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Plus video and audio codecs, hardware video decoding, a modern terminal toolkit, gaming helpers and developer tools. Every app list is a plain text file: add a line and it's yours. Bold ones are made for MK Workstation.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YOUR COMPUTER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It looks at your hardware, then tunes for it</a:t>
            </a:r>
            <a:endParaRPr lang="en-US" sz="3000" dirty="0"/>
          </a:p>
        </p:txBody>
      </p:sp>
      <p:sp>
        <p:nvSpPr>
          <p:cNvPr id="4" name="card-157"/>
          <p:cNvSpPr/>
          <p:nvPr/>
        </p:nvSpPr>
        <p:spPr>
          <a:xfrm>
            <a:off x="457200" y="1280160"/>
            <a:ext cx="265176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5" name="dot-158"/>
          <p:cNvSpPr/>
          <p:nvPr/>
        </p:nvSpPr>
        <p:spPr>
          <a:xfrm>
            <a:off x="640080" y="14630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-159" descr="/tmp/tmp.Shm5PlvpZ0/icons/auth-finger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54480"/>
            <a:ext cx="201168" cy="201168"/>
          </a:xfrm>
          <a:prstGeom prst="rect">
            <a:avLst/>
          </a:prstGeom>
        </p:spPr>
      </p:pic>
      <p:sp>
        <p:nvSpPr>
          <p:cNvPr id="7" name="cardtext-160"/>
          <p:cNvSpPr txBox="1"/>
          <p:nvPr/>
        </p:nvSpPr>
        <p:spPr>
          <a:xfrm>
            <a:off x="640080" y="193852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Fingerprint and face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log in with a touch or a glance</a:t>
            </a:r>
            <a:endParaRPr lang="en-US" sz="1500" dirty="0"/>
          </a:p>
        </p:txBody>
      </p:sp>
      <p:sp>
        <p:nvSpPr>
          <p:cNvPr id="8" name="card-161"/>
          <p:cNvSpPr/>
          <p:nvPr/>
        </p:nvSpPr>
        <p:spPr>
          <a:xfrm>
            <a:off x="3246120" y="1280160"/>
            <a:ext cx="265176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9" name="dot-162"/>
          <p:cNvSpPr/>
          <p:nvPr/>
        </p:nvSpPr>
        <p:spPr>
          <a:xfrm>
            <a:off x="3429000" y="14630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-163" descr="/tmp/tmp.Shm5PlvpZ0/icons/battery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1554480"/>
            <a:ext cx="201168" cy="201168"/>
          </a:xfrm>
          <a:prstGeom prst="rect">
            <a:avLst/>
          </a:prstGeom>
        </p:spPr>
      </p:pic>
      <p:sp>
        <p:nvSpPr>
          <p:cNvPr id="11" name="cardtext-164"/>
          <p:cNvSpPr txBox="1"/>
          <p:nvPr/>
        </p:nvSpPr>
        <p:spPr>
          <a:xfrm>
            <a:off x="3429000" y="193852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Battery that lasts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fast on power, gentle on battery</a:t>
            </a:r>
            <a:endParaRPr lang="en-US" sz="1500" dirty="0"/>
          </a:p>
        </p:txBody>
      </p:sp>
      <p:sp>
        <p:nvSpPr>
          <p:cNvPr id="12" name="card-165"/>
          <p:cNvSpPr/>
          <p:nvPr/>
        </p:nvSpPr>
        <p:spPr>
          <a:xfrm>
            <a:off x="6035040" y="1280160"/>
            <a:ext cx="265176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3" name="dot-166"/>
          <p:cNvSpPr/>
          <p:nvPr/>
        </p:nvSpPr>
        <p:spPr>
          <a:xfrm>
            <a:off x="6217920" y="14630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con-167" descr="/tmp/tmp.Shm5PlvpZ0/icons/audio-speake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554480"/>
            <a:ext cx="201168" cy="201168"/>
          </a:xfrm>
          <a:prstGeom prst="rect">
            <a:avLst/>
          </a:prstGeom>
        </p:spPr>
      </p:pic>
      <p:sp>
        <p:nvSpPr>
          <p:cNvPr id="15" name="cardtext-168"/>
          <p:cNvSpPr txBox="1"/>
          <p:nvPr/>
        </p:nvSpPr>
        <p:spPr>
          <a:xfrm>
            <a:off x="6217920" y="193852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Speakers with body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warmth, real bass, clearer voices</a:t>
            </a:r>
            <a:endParaRPr lang="en-US" sz="1500" dirty="0"/>
          </a:p>
        </p:txBody>
      </p:sp>
      <p:sp>
        <p:nvSpPr>
          <p:cNvPr id="16" name="card-169"/>
          <p:cNvSpPr/>
          <p:nvPr/>
        </p:nvSpPr>
        <p:spPr>
          <a:xfrm>
            <a:off x="457200" y="2971800"/>
            <a:ext cx="265176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7" name="dot-170"/>
          <p:cNvSpPr/>
          <p:nvPr/>
        </p:nvSpPr>
        <p:spPr>
          <a:xfrm>
            <a:off x="640080" y="31546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con-171" descr="/tmp/tmp.Shm5PlvpZ0/icons/input-table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246120"/>
            <a:ext cx="201168" cy="201168"/>
          </a:xfrm>
          <a:prstGeom prst="rect">
            <a:avLst/>
          </a:prstGeom>
        </p:spPr>
      </p:pic>
      <p:sp>
        <p:nvSpPr>
          <p:cNvPr id="19" name="cardtext-172"/>
          <p:cNvSpPr txBox="1"/>
          <p:nvPr/>
        </p:nvSpPr>
        <p:spPr>
          <a:xfrm>
            <a:off x="640080" y="36301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Touch and 2-in-1s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rotation, tablet mode, pen</a:t>
            </a:r>
            <a:endParaRPr lang="en-US" sz="1500" dirty="0"/>
          </a:p>
        </p:txBody>
      </p:sp>
      <p:sp>
        <p:nvSpPr>
          <p:cNvPr id="20" name="card-173"/>
          <p:cNvSpPr/>
          <p:nvPr/>
        </p:nvSpPr>
        <p:spPr>
          <a:xfrm>
            <a:off x="3246120" y="2971800"/>
            <a:ext cx="265176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21" name="dot-174"/>
          <p:cNvSpPr/>
          <p:nvPr/>
        </p:nvSpPr>
        <p:spPr>
          <a:xfrm>
            <a:off x="3429000" y="31546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2" name="icon-175" descr="/tmp/tmp.Shm5PlvpZ0/icons/video-displa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0440" y="3246120"/>
            <a:ext cx="201168" cy="201168"/>
          </a:xfrm>
          <a:prstGeom prst="rect">
            <a:avLst/>
          </a:prstGeom>
        </p:spPr>
      </p:pic>
      <p:sp>
        <p:nvSpPr>
          <p:cNvPr id="23" name="cardtext-176"/>
          <p:cNvSpPr txBox="1"/>
          <p:nvPr/>
        </p:nvSpPr>
        <p:spPr>
          <a:xfrm>
            <a:off x="3429000" y="36301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Right graphics driver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hardware video for Intel, AMD, NVIDIA</a:t>
            </a:r>
            <a:endParaRPr lang="en-US" sz="1500" dirty="0"/>
          </a:p>
        </p:txBody>
      </p:sp>
      <p:sp>
        <p:nvSpPr>
          <p:cNvPr id="24" name="card-177"/>
          <p:cNvSpPr/>
          <p:nvPr/>
        </p:nvSpPr>
        <p:spPr>
          <a:xfrm>
            <a:off x="6035040" y="2971800"/>
            <a:ext cx="265176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25" name="dot-178"/>
          <p:cNvSpPr/>
          <p:nvPr/>
        </p:nvSpPr>
        <p:spPr>
          <a:xfrm>
            <a:off x="6217920" y="31546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icon-179" descr="/tmp/tmp.Shm5PlvpZ0/icons/system-ru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3246120"/>
            <a:ext cx="201168" cy="201168"/>
          </a:xfrm>
          <a:prstGeom prst="rect">
            <a:avLst/>
          </a:prstGeom>
        </p:spPr>
      </p:pic>
      <p:sp>
        <p:nvSpPr>
          <p:cNvPr id="27" name="cardtext-180"/>
          <p:cNvSpPr txBox="1"/>
          <p:nvPr/>
        </p:nvSpPr>
        <p:spPr>
          <a:xfrm>
            <a:off x="6217920" y="36301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Older machines too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mk effects lite keeps it smooth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KEYBOARD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Your hands already know these</a:t>
            </a:r>
            <a:endParaRPr lang="en-US" sz="3000" dirty="0"/>
          </a:p>
        </p:txBody>
      </p:sp>
      <p:sp>
        <p:nvSpPr>
          <p:cNvPr id="4" name="key-181"/>
          <p:cNvSpPr/>
          <p:nvPr/>
        </p:nvSpPr>
        <p:spPr>
          <a:xfrm>
            <a:off x="457200" y="1325880"/>
            <a:ext cx="1325880" cy="36576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/>
        </p:spPr>
      </p:sp>
      <p:sp>
        <p:nvSpPr>
          <p:cNvPr id="5" name="keytext-182"/>
          <p:cNvSpPr txBox="1"/>
          <p:nvPr/>
        </p:nvSpPr>
        <p:spPr>
          <a:xfrm>
            <a:off x="457200" y="132588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Super+E</a:t>
            </a:r>
            <a:endParaRPr lang="en-US" sz="1200" dirty="0"/>
          </a:p>
        </p:txBody>
      </p:sp>
      <p:sp>
        <p:nvSpPr>
          <p:cNvPr id="6" name="keylabel-183"/>
          <p:cNvSpPr txBox="1"/>
          <p:nvPr/>
        </p:nvSpPr>
        <p:spPr>
          <a:xfrm>
            <a:off x="1874520" y="132588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Files</a:t>
            </a:r>
            <a:endParaRPr lang="en-US" sz="1200" dirty="0"/>
          </a:p>
        </p:txBody>
      </p:sp>
      <p:sp>
        <p:nvSpPr>
          <p:cNvPr id="7" name="key-184"/>
          <p:cNvSpPr/>
          <p:nvPr/>
        </p:nvSpPr>
        <p:spPr>
          <a:xfrm>
            <a:off x="2926080" y="1325880"/>
            <a:ext cx="1325880" cy="36576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/>
        </p:spPr>
      </p:sp>
      <p:sp>
        <p:nvSpPr>
          <p:cNvPr id="8" name="keytext-185"/>
          <p:cNvSpPr txBox="1"/>
          <p:nvPr/>
        </p:nvSpPr>
        <p:spPr>
          <a:xfrm>
            <a:off x="2926080" y="132588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Super+N</a:t>
            </a:r>
            <a:endParaRPr lang="en-US" sz="1200" dirty="0"/>
          </a:p>
        </p:txBody>
      </p:sp>
      <p:sp>
        <p:nvSpPr>
          <p:cNvPr id="9" name="keylabel-186"/>
          <p:cNvSpPr txBox="1"/>
          <p:nvPr/>
        </p:nvSpPr>
        <p:spPr>
          <a:xfrm>
            <a:off x="4343400" y="132588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MK Notes</a:t>
            </a:r>
            <a:endParaRPr lang="en-US" sz="1200" dirty="0"/>
          </a:p>
        </p:txBody>
      </p:sp>
      <p:sp>
        <p:nvSpPr>
          <p:cNvPr id="10" name="key-187"/>
          <p:cNvSpPr/>
          <p:nvPr/>
        </p:nvSpPr>
        <p:spPr>
          <a:xfrm>
            <a:off x="457200" y="1947672"/>
            <a:ext cx="1325880" cy="36576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/>
        </p:spPr>
      </p:sp>
      <p:sp>
        <p:nvSpPr>
          <p:cNvPr id="11" name="keytext-188"/>
          <p:cNvSpPr txBox="1"/>
          <p:nvPr/>
        </p:nvSpPr>
        <p:spPr>
          <a:xfrm>
            <a:off x="457200" y="194767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Super+B</a:t>
            </a:r>
            <a:endParaRPr lang="en-US" sz="1200" dirty="0"/>
          </a:p>
        </p:txBody>
      </p:sp>
      <p:sp>
        <p:nvSpPr>
          <p:cNvPr id="12" name="keylabel-189"/>
          <p:cNvSpPr txBox="1"/>
          <p:nvPr/>
        </p:nvSpPr>
        <p:spPr>
          <a:xfrm>
            <a:off x="1874520" y="194767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Web browser</a:t>
            </a:r>
            <a:endParaRPr lang="en-US" sz="1200" dirty="0"/>
          </a:p>
        </p:txBody>
      </p:sp>
      <p:sp>
        <p:nvSpPr>
          <p:cNvPr id="13" name="key-190"/>
          <p:cNvSpPr/>
          <p:nvPr/>
        </p:nvSpPr>
        <p:spPr>
          <a:xfrm>
            <a:off x="2926080" y="1947672"/>
            <a:ext cx="1325880" cy="36576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/>
        </p:spPr>
      </p:sp>
      <p:sp>
        <p:nvSpPr>
          <p:cNvPr id="14" name="keytext-191"/>
          <p:cNvSpPr txBox="1"/>
          <p:nvPr/>
        </p:nvSpPr>
        <p:spPr>
          <a:xfrm>
            <a:off x="2926080" y="194767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Super+V</a:t>
            </a:r>
            <a:endParaRPr lang="en-US" sz="1200" dirty="0"/>
          </a:p>
        </p:txBody>
      </p:sp>
      <p:sp>
        <p:nvSpPr>
          <p:cNvPr id="15" name="keylabel-192"/>
          <p:cNvSpPr txBox="1"/>
          <p:nvPr/>
        </p:nvSpPr>
        <p:spPr>
          <a:xfrm>
            <a:off x="4343400" y="194767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Clipboard history</a:t>
            </a:r>
            <a:endParaRPr lang="en-US" sz="1200" dirty="0"/>
          </a:p>
        </p:txBody>
      </p:sp>
      <p:sp>
        <p:nvSpPr>
          <p:cNvPr id="16" name="key-193"/>
          <p:cNvSpPr/>
          <p:nvPr/>
        </p:nvSpPr>
        <p:spPr>
          <a:xfrm>
            <a:off x="457200" y="2569464"/>
            <a:ext cx="1325880" cy="36576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/>
        </p:spPr>
      </p:sp>
      <p:sp>
        <p:nvSpPr>
          <p:cNvPr id="17" name="keytext-194"/>
          <p:cNvSpPr txBox="1"/>
          <p:nvPr/>
        </p:nvSpPr>
        <p:spPr>
          <a:xfrm>
            <a:off x="457200" y="256946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Super+Shift+S</a:t>
            </a:r>
            <a:endParaRPr lang="en-US" sz="1200" dirty="0"/>
          </a:p>
        </p:txBody>
      </p:sp>
      <p:sp>
        <p:nvSpPr>
          <p:cNvPr id="18" name="keylabel-195"/>
          <p:cNvSpPr txBox="1"/>
          <p:nvPr/>
        </p:nvSpPr>
        <p:spPr>
          <a:xfrm>
            <a:off x="1874520" y="256946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Screenshot an area</a:t>
            </a:r>
            <a:endParaRPr lang="en-US" sz="1200" dirty="0"/>
          </a:p>
        </p:txBody>
      </p:sp>
      <p:sp>
        <p:nvSpPr>
          <p:cNvPr id="19" name="key-196"/>
          <p:cNvSpPr/>
          <p:nvPr/>
        </p:nvSpPr>
        <p:spPr>
          <a:xfrm>
            <a:off x="2926080" y="2569464"/>
            <a:ext cx="1325880" cy="36576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/>
        </p:spPr>
      </p:sp>
      <p:sp>
        <p:nvSpPr>
          <p:cNvPr id="20" name="keytext-197"/>
          <p:cNvSpPr txBox="1"/>
          <p:nvPr/>
        </p:nvSpPr>
        <p:spPr>
          <a:xfrm>
            <a:off x="2926080" y="256946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Super+Z</a:t>
            </a:r>
            <a:endParaRPr lang="en-US" sz="1200" dirty="0"/>
          </a:p>
        </p:txBody>
      </p:sp>
      <p:sp>
        <p:nvSpPr>
          <p:cNvPr id="21" name="keylabel-198"/>
          <p:cNvSpPr txBox="1"/>
          <p:nvPr/>
        </p:nvSpPr>
        <p:spPr>
          <a:xfrm>
            <a:off x="4343400" y="256946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Snap layouts</a:t>
            </a:r>
            <a:endParaRPr lang="en-US" sz="1200" dirty="0"/>
          </a:p>
        </p:txBody>
      </p:sp>
      <p:sp>
        <p:nvSpPr>
          <p:cNvPr id="22" name="key-199"/>
          <p:cNvSpPr/>
          <p:nvPr/>
        </p:nvSpPr>
        <p:spPr>
          <a:xfrm>
            <a:off x="457200" y="3191256"/>
            <a:ext cx="1325880" cy="36576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/>
        </p:spPr>
      </p:sp>
      <p:sp>
        <p:nvSpPr>
          <p:cNvPr id="23" name="keytext-200"/>
          <p:cNvSpPr txBox="1"/>
          <p:nvPr/>
        </p:nvSpPr>
        <p:spPr>
          <a:xfrm>
            <a:off x="457200" y="31912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Ctrl+Shift+Esc</a:t>
            </a:r>
            <a:endParaRPr lang="en-US" sz="1200" dirty="0"/>
          </a:p>
        </p:txBody>
      </p:sp>
      <p:sp>
        <p:nvSpPr>
          <p:cNvPr id="24" name="keylabel-201"/>
          <p:cNvSpPr txBox="1"/>
          <p:nvPr/>
        </p:nvSpPr>
        <p:spPr>
          <a:xfrm>
            <a:off x="1874520" y="319125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System Monitor</a:t>
            </a:r>
            <a:endParaRPr lang="en-US" sz="1200" dirty="0"/>
          </a:p>
        </p:txBody>
      </p:sp>
      <p:sp>
        <p:nvSpPr>
          <p:cNvPr id="25" name="key-202"/>
          <p:cNvSpPr/>
          <p:nvPr/>
        </p:nvSpPr>
        <p:spPr>
          <a:xfrm>
            <a:off x="2926080" y="3191256"/>
            <a:ext cx="1325880" cy="36576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/>
        </p:spPr>
      </p:sp>
      <p:sp>
        <p:nvSpPr>
          <p:cNvPr id="26" name="keytext-203"/>
          <p:cNvSpPr txBox="1"/>
          <p:nvPr/>
        </p:nvSpPr>
        <p:spPr>
          <a:xfrm>
            <a:off x="2926080" y="31912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Super+L</a:t>
            </a:r>
            <a:endParaRPr lang="en-US" sz="1200" dirty="0"/>
          </a:p>
        </p:txBody>
      </p:sp>
      <p:sp>
        <p:nvSpPr>
          <p:cNvPr id="27" name="keylabel-204"/>
          <p:cNvSpPr txBox="1"/>
          <p:nvPr/>
        </p:nvSpPr>
        <p:spPr>
          <a:xfrm>
            <a:off x="4343400" y="319125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Lock</a:t>
            </a:r>
            <a:endParaRPr lang="en-US" sz="1200" dirty="0"/>
          </a:p>
        </p:txBody>
      </p:sp>
      <p:sp>
        <p:nvSpPr>
          <p:cNvPr id="28" name="key-205"/>
          <p:cNvSpPr/>
          <p:nvPr/>
        </p:nvSpPr>
        <p:spPr>
          <a:xfrm>
            <a:off x="457200" y="3813048"/>
            <a:ext cx="1325880" cy="36576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/>
        </p:spPr>
      </p:sp>
      <p:sp>
        <p:nvSpPr>
          <p:cNvPr id="29" name="keytext-206"/>
          <p:cNvSpPr txBox="1"/>
          <p:nvPr/>
        </p:nvSpPr>
        <p:spPr>
          <a:xfrm>
            <a:off x="457200" y="381304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Ctrl+Alt+End</a:t>
            </a:r>
            <a:endParaRPr lang="en-US" sz="1200" dirty="0"/>
          </a:p>
        </p:txBody>
      </p:sp>
      <p:sp>
        <p:nvSpPr>
          <p:cNvPr id="30" name="keylabel-207"/>
          <p:cNvSpPr txBox="1"/>
          <p:nvPr/>
        </p:nvSpPr>
        <p:spPr>
          <a:xfrm>
            <a:off x="1874520" y="381304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Shut down</a:t>
            </a:r>
            <a:endParaRPr lang="en-US" sz="1200" dirty="0"/>
          </a:p>
        </p:txBody>
      </p:sp>
      <p:sp>
        <p:nvSpPr>
          <p:cNvPr id="31" name="key-208"/>
          <p:cNvSpPr/>
          <p:nvPr/>
        </p:nvSpPr>
        <p:spPr>
          <a:xfrm>
            <a:off x="2926080" y="3813048"/>
            <a:ext cx="1325880" cy="36576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/>
        </p:spPr>
      </p:sp>
      <p:sp>
        <p:nvSpPr>
          <p:cNvPr id="32" name="keytext-209"/>
          <p:cNvSpPr txBox="1"/>
          <p:nvPr/>
        </p:nvSpPr>
        <p:spPr>
          <a:xfrm>
            <a:off x="2926080" y="381304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Ctrl+Alt+Home</a:t>
            </a:r>
            <a:endParaRPr lang="en-US" sz="1200" dirty="0"/>
          </a:p>
        </p:txBody>
      </p:sp>
      <p:sp>
        <p:nvSpPr>
          <p:cNvPr id="33" name="keylabel-210"/>
          <p:cNvSpPr txBox="1"/>
          <p:nvPr/>
        </p:nvSpPr>
        <p:spPr>
          <a:xfrm>
            <a:off x="4343400" y="381304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Restart</a:t>
            </a:r>
            <a:endParaRPr lang="en-US" sz="1200" dirty="0"/>
          </a:p>
        </p:txBody>
      </p:sp>
      <p:pic>
        <p:nvPicPr>
          <p:cNvPr id="34" name="shortcuts" descr="/tmp/tmp.Shm5PlvpZ0/img/shortcu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1280160"/>
            <a:ext cx="3154680" cy="3182112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B1430">
                <a:alpha val="18000"/>
              </a:srgbClr>
            </a:outerShdw>
          </a:effectLst>
        </p:spPr>
      </p:pic>
      <p:sp>
        <p:nvSpPr>
          <p:cNvPr id="35" name="caption-211"/>
          <p:cNvSpPr txBox="1"/>
          <p:nvPr/>
        </p:nvSpPr>
        <p:spPr>
          <a:xfrm>
            <a:off x="5486400" y="44988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Super+/ shows every shortcut, live, and lets you change any key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NO RISK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Try it, change your mind, nothing breaks</a:t>
            </a:r>
            <a:endParaRPr lang="en-US" sz="3000" dirty="0"/>
          </a:p>
        </p:txBody>
      </p:sp>
      <p:sp>
        <p:nvSpPr>
          <p:cNvPr id="4" name="dot-212"/>
          <p:cNvSpPr/>
          <p:nvPr/>
        </p:nvSpPr>
        <p:spPr>
          <a:xfrm>
            <a:off x="457200" y="134416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-213" descr="/tmp/tmp.Shm5PlvpZ0/icons/document-open-rec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35608"/>
            <a:ext cx="201168" cy="201168"/>
          </a:xfrm>
          <a:prstGeom prst="rect">
            <a:avLst/>
          </a:prstGeom>
        </p:spPr>
      </p:pic>
      <p:sp>
        <p:nvSpPr>
          <p:cNvPr id="6" name="row-214"/>
          <p:cNvSpPr txBox="1"/>
          <p:nvPr/>
        </p:nvSpPr>
        <p:spPr>
          <a:xfrm>
            <a:off x="960120" y="1289304"/>
            <a:ext cx="4343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A snapshot every time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mk restore puts your settings back</a:t>
            </a:r>
            <a:endParaRPr lang="en-US" sz="1400" dirty="0"/>
          </a:p>
        </p:txBody>
      </p:sp>
      <p:sp>
        <p:nvSpPr>
          <p:cNvPr id="7" name="dot-215"/>
          <p:cNvSpPr/>
          <p:nvPr/>
        </p:nvSpPr>
        <p:spPr>
          <a:xfrm>
            <a:off x="457200" y="202996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icon-216" descr="/tmp/tmp.Shm5PlvpZ0/icons/user-tras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21408"/>
            <a:ext cx="201168" cy="201168"/>
          </a:xfrm>
          <a:prstGeom prst="rect">
            <a:avLst/>
          </a:prstGeom>
        </p:spPr>
      </p:pic>
      <p:sp>
        <p:nvSpPr>
          <p:cNvPr id="9" name="row-217"/>
          <p:cNvSpPr txBox="1"/>
          <p:nvPr/>
        </p:nvSpPr>
        <p:spPr>
          <a:xfrm>
            <a:off x="960120" y="1975104"/>
            <a:ext cx="4343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One-line uninstall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mk uninstall removes MK's tools</a:t>
            </a:r>
            <a:endParaRPr lang="en-US" sz="1400" dirty="0"/>
          </a:p>
        </p:txBody>
      </p:sp>
      <p:sp>
        <p:nvSpPr>
          <p:cNvPr id="10" name="dot-218"/>
          <p:cNvSpPr/>
          <p:nvPr/>
        </p:nvSpPr>
        <p:spPr>
          <a:xfrm>
            <a:off x="457200" y="271576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con-219" descr="/tmp/tmp.Shm5PlvpZ0/icons/checkbox-check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07208"/>
            <a:ext cx="201168" cy="201168"/>
          </a:xfrm>
          <a:prstGeom prst="rect">
            <a:avLst/>
          </a:prstGeom>
        </p:spPr>
      </p:pic>
      <p:sp>
        <p:nvSpPr>
          <p:cNvPr id="12" name="row-220"/>
          <p:cNvSpPr txBox="1"/>
          <p:nvPr/>
        </p:nvSpPr>
        <p:spPr>
          <a:xfrm>
            <a:off x="960120" y="2660904"/>
            <a:ext cx="4343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Health check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mk doctor finds problems and says how to fix them</a:t>
            </a:r>
            <a:endParaRPr lang="en-US" sz="1400" dirty="0"/>
          </a:p>
        </p:txBody>
      </p:sp>
      <p:sp>
        <p:nvSpPr>
          <p:cNvPr id="13" name="dot-221"/>
          <p:cNvSpPr/>
          <p:nvPr/>
        </p:nvSpPr>
        <p:spPr>
          <a:xfrm>
            <a:off x="457200" y="340156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con-222" descr="/tmp/tmp.Shm5PlvpZ0/icons/x-office-docum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493008"/>
            <a:ext cx="201168" cy="201168"/>
          </a:xfrm>
          <a:prstGeom prst="rect">
            <a:avLst/>
          </a:prstGeom>
        </p:spPr>
      </p:pic>
      <p:sp>
        <p:nvSpPr>
          <p:cNvPr id="15" name="row-223"/>
          <p:cNvSpPr txBox="1"/>
          <p:nvPr/>
        </p:nvSpPr>
        <p:spPr>
          <a:xfrm>
            <a:off x="960120" y="3346704"/>
            <a:ext cx="4343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Readable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plain shell and Python, every change in git</a:t>
            </a:r>
            <a:endParaRPr lang="en-US" sz="1400" dirty="0"/>
          </a:p>
        </p:txBody>
      </p:sp>
      <p:sp>
        <p:nvSpPr>
          <p:cNvPr id="16" name="dot-224"/>
          <p:cNvSpPr/>
          <p:nvPr/>
        </p:nvSpPr>
        <p:spPr>
          <a:xfrm>
            <a:off x="457200" y="408736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con-225" descr="/tmp/tmp.Shm5PlvpZ0/icons/software-update-availab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178808"/>
            <a:ext cx="201168" cy="201168"/>
          </a:xfrm>
          <a:prstGeom prst="rect">
            <a:avLst/>
          </a:prstGeom>
        </p:spPr>
      </p:pic>
      <p:sp>
        <p:nvSpPr>
          <p:cNvPr id="18" name="row-226"/>
          <p:cNvSpPr txBox="1"/>
          <p:nvPr/>
        </p:nvSpPr>
        <p:spPr>
          <a:xfrm>
            <a:off x="960120" y="4032504"/>
            <a:ext cx="4343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One update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mk update does system, apps and settings</a:t>
            </a:r>
            <a:endParaRPr lang="en-US" sz="1400" dirty="0"/>
          </a:p>
        </p:txBody>
      </p:sp>
      <p:pic>
        <p:nvPicPr>
          <p:cNvPr id="19" name="companion" descr="/tmp/tmp.Shm5PlvpZ0/img/companion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5040" y="1234440"/>
            <a:ext cx="2331720" cy="3172968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B1430">
                <a:alpha val="18000"/>
              </a:srgbClr>
            </a:outerShdw>
          </a:effectLst>
        </p:spPr>
      </p:pic>
      <p:sp>
        <p:nvSpPr>
          <p:cNvPr id="20" name="caption-227"/>
          <p:cNvSpPr txBox="1"/>
          <p:nvPr/>
        </p:nvSpPr>
        <p:spPr>
          <a:xfrm>
            <a:off x="5760720" y="446227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The Companion: quick notes, tasks, reminders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572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GET STARTED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Get it in three commands</a:t>
            </a:r>
            <a:endParaRPr lang="en-US" sz="3200" dirty="0"/>
          </a:p>
        </p:txBody>
      </p:sp>
      <p:sp>
        <p:nvSpPr>
          <p:cNvPr id="4" name="cmdbox-228"/>
          <p:cNvSpPr/>
          <p:nvPr/>
        </p:nvSpPr>
        <p:spPr>
          <a:xfrm>
            <a:off x="548640" y="1691640"/>
            <a:ext cx="8046720" cy="512064"/>
          </a:xfrm>
          <a:prstGeom prst="roundRect">
            <a:avLst>
              <a:gd name="adj" fmla="val 17857"/>
            </a:avLst>
          </a:prstGeom>
          <a:solidFill>
            <a:schemeClr val="tx2">
              <a:alpha val="45000"/>
            </a:schemeClr>
          </a:solidFill>
          <a:ln/>
        </p:spPr>
      </p:sp>
      <p:sp>
        <p:nvSpPr>
          <p:cNvPr id="5" name="cmd-229"/>
          <p:cNvSpPr txBox="1"/>
          <p:nvPr/>
        </p:nvSpPr>
        <p:spPr>
          <a:xfrm>
            <a:off x="731520" y="1691640"/>
            <a:ext cx="7680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   </a:t>
            </a:r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https://github.com/MehulK-techie/fedora-workstation-config.git</a:t>
            </a:r>
            <a:endParaRPr lang="en-US" sz="1200" dirty="0"/>
          </a:p>
        </p:txBody>
      </p:sp>
      <p:sp>
        <p:nvSpPr>
          <p:cNvPr id="6" name="cmdbox-230"/>
          <p:cNvSpPr/>
          <p:nvPr/>
        </p:nvSpPr>
        <p:spPr>
          <a:xfrm>
            <a:off x="548640" y="2350008"/>
            <a:ext cx="8046720" cy="512064"/>
          </a:xfrm>
          <a:prstGeom prst="roundRect">
            <a:avLst>
              <a:gd name="adj" fmla="val 17857"/>
            </a:avLst>
          </a:prstGeom>
          <a:solidFill>
            <a:schemeClr val="tx2">
              <a:alpha val="45000"/>
            </a:schemeClr>
          </a:solidFill>
          <a:ln/>
        </p:spPr>
      </p:sp>
      <p:sp>
        <p:nvSpPr>
          <p:cNvPr id="7" name="cmd-231"/>
          <p:cNvSpPr txBox="1"/>
          <p:nvPr/>
        </p:nvSpPr>
        <p:spPr>
          <a:xfrm>
            <a:off x="731520" y="2350008"/>
            <a:ext cx="7680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2   </a:t>
            </a:r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fedora-workstation-config</a:t>
            </a:r>
            <a:endParaRPr lang="en-US" sz="1200" dirty="0"/>
          </a:p>
        </p:txBody>
      </p:sp>
      <p:sp>
        <p:nvSpPr>
          <p:cNvPr id="8" name="cmdbox-232"/>
          <p:cNvSpPr/>
          <p:nvPr/>
        </p:nvSpPr>
        <p:spPr>
          <a:xfrm>
            <a:off x="548640" y="3008376"/>
            <a:ext cx="8046720" cy="512064"/>
          </a:xfrm>
          <a:prstGeom prst="roundRect">
            <a:avLst>
              <a:gd name="adj" fmla="val 17857"/>
            </a:avLst>
          </a:prstGeom>
          <a:solidFill>
            <a:schemeClr val="tx2">
              <a:alpha val="45000"/>
            </a:schemeClr>
          </a:solidFill>
          <a:ln/>
        </p:spPr>
      </p:sp>
      <p:sp>
        <p:nvSpPr>
          <p:cNvPr id="9" name="cmd-233"/>
          <p:cNvSpPr txBox="1"/>
          <p:nvPr/>
        </p:nvSpPr>
        <p:spPr>
          <a:xfrm>
            <a:off x="731520" y="3008376"/>
            <a:ext cx="7680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3   </a:t>
            </a:r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./setup.sh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7490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On a fresh Fedora Workstation. Then log out and back in. That's it.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2519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u="sng" dirty="0">
                <a:solidFill>
                  <a:schemeClr val="accent2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 code and issues</a:t>
            </a:r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      </a:t>
            </a:r>
            <a:pPr indent="0" marL="0">
              <a:buNone/>
            </a:pPr>
            <a:r>
              <a:rPr lang="en-US" sz="1400" b="1" u="sng" dirty="0">
                <a:solidFill>
                  <a:schemeClr val="accent2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Getting started guide</a:t>
            </a:r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      </a:t>
            </a:r>
            <a:pPr indent="0" marL="0">
              <a:buNone/>
            </a:pPr>
            <a:r>
              <a:rPr lang="en-US" sz="1400" b="1" u="sng" dirty="0">
                <a:solidFill>
                  <a:schemeClr val="accent2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Every feature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MK Workstation">
      <a:dk1>
        <a:srgbClr val="0B1430"/>
      </a:dk1>
      <a:lt1>
        <a:srgbClr val="FFFFFF"/>
      </a:lt1>
      <a:dk2>
        <a:srgbClr val="5B677C"/>
      </a:dk2>
      <a:lt2>
        <a:srgbClr val="EEF3FC"/>
      </a:lt2>
      <a:accent1>
        <a:srgbClr val="2F80FF"/>
      </a:accent1>
      <a:accent2>
        <a:srgbClr val="4FD3FF"/>
      </a:accent2>
      <a:accent3>
        <a:srgbClr val="FFB020"/>
      </a:accent3>
      <a:accent4>
        <a:srgbClr val="2ECC8F"/>
      </a:accent4>
      <a:accent5>
        <a:srgbClr val="9B6BFF"/>
      </a:accent5>
      <a:accent6>
        <a:srgbClr val="FF4D6D"/>
      </a:accent6>
      <a:hlink>
        <a:srgbClr val="2F80FF"/>
      </a:hlink>
      <a:folHlink>
        <a:srgbClr val="9B6BFF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MK Workstation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MK Workstation: Fedora, finished</dc:title>
  <dc:subject>What MK Workstation adds to Fedora Workstation</dc:subject>
  <dc:creator>MK Workstation</dc:creator>
  <cp:lastModifiedBy>MK Workstation</cp:lastModifiedBy>
  <cp:revision>1</cp:revision>
  <dcterms:created xsi:type="dcterms:W3CDTF">2026-10-23T20:50:28Z</dcterms:created>
  <dcterms:modified xsi:type="dcterms:W3CDTF">2026-10-23T20:50:28Z</dcterms:modified>
</cp:coreProperties>
</file>