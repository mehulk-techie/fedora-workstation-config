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0c28f12-fd1b-47b9-147a-85a3787846ab}">
          <p14:sldIdLst>
            <p14:sldId id="256"/>
            <p14:sldId id="257"/>
          </p14:sldIdLst>
        </p14:section>
        <p14:section name="Your desktop" id="{cf2e1826-4059-ac21-a216-4a7a74dec242}">
          <p14:sldIdLst>
            <p14:sldId id="258"/>
            <p14:sldId id="259"/>
            <p14:sldId id="260"/>
          </p14:sldIdLst>
        </p14:section>
        <p14:section name="MK Notes" id="{2fb061a0-04f0-cad2-35d7-d40e4e954b13}">
          <p14:sldIdLst>
            <p14:sldId id="261"/>
            <p14:sldId id="262"/>
          </p14:sldIdLst>
        </p14:section>
        <p14:section name="Focus and tools" id="{00d293c6-e6b2-a4b9-6acd-33f0ffbdb07f}">
          <p14:sldIdLst>
            <p14:sldId id="263"/>
            <p14:sldId id="264"/>
            <p14:sldId id="265"/>
          </p14:sldIdLst>
        </p14:section>
        <p14:section name="Your computer" id="{c1dd1d32-45e2-8bc2-1933-2d9d92df88e5}">
          <p14:sldIdLst>
            <p14:sldId id="266"/>
            <p14:sldId id="267"/>
            <p14:sldId id="268"/>
          </p14:sldIdLst>
        </p14:section>
        <p14:section name="Get started" id="{a43d4c65-8ab1-56c3-884a-44c40d7161a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 Workstation is a set of scripts and small apps that set up Fedora Workstation in one go: settings, extensions, apps, codecs, shortcuts. The rest of this deck walks through what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Fedora is a great base but bare. Setting it up by hand takes a weekend; MK does it in one command and about fifteen minutes, and everything stays a normal GNOME setting you can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Alt+Tab and the three-finger swipe open a compact card of live windows, at once. Each window takes the same finger travel, the mouse works too, and 1 to 9 sends the selected window to that desktop.Alt+Tab and the three-finger swipe show one switcher with a ring that follows your fingers. Each window takes the same finger travel however many are open, so fast swipes land where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Windows-style snapping: Super and the arrows for halves and quarters, Super+Z for layouts, Snap Assist offers the other windows for the free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login the light runs round the screen once the desktop is ready, and the greeting shows your pinned tasks and next reminder. The colours across the desktop come from your wallpaper.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 Notes keeps notes as plain Markdown files. Links, backlinks and a graph; draw with a pen; paste screenshots; edit with a live preview. The same notes are on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 to your phone over Wi-Fi, PDF export, publishing as a website and version history are built in, plus a tasks view, a daily-notes calendar, focus mode and your own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away for a few minutes and a scene plays: a brick-built masked hero hanging beside a skyscraper, a brick-built caped knight in the rain, or hexadecimal rain that decodes the time. A video or call keeps it away; any touch brings you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bar has a light system monitor with a speed test, a media tile for Spotify or any player with seek and speaker choice, and clipboard history on Super+V.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apps people ask for are there on first login, including Joplin, ONLYOFFICE, Zen and VS Code. The app lists are plain text files you can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checks the hardware first: fingerprint or face unlock where there's a reader, power profiles on battery, speaker tuning, touch and 2-in-1 support, the right video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Shortcuts follow Windows and macOS habits. Super+/ shows every one live and lets you change any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is snapshotted, mk restore undoes it and mk uninstall removes MK's tools. mk doctor checks health; mk update updates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change into the folder, run setup with sudo. It asks before anything optional, like face unlock. Then log out and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K_TITLE">
    <p:bg>
      <p:bgPr>
        <a:solidFill>
          <a:srgbClr val="0B1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33832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971800"/>
            <a:ext cx="3383280" cy="1097280"/>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457200" y="4773168"/>
            <a:ext cx="2743200" cy="228600"/>
          </a:xfrm>
          <a:prstGeom prst="rect">
            <a:avLst/>
          </a:prstGeom>
          <a:noFill/>
          <a:ln/>
        </p:spPr>
        <p:txBody>
          <a:bodyPr wrap="square" lIns="0" tIns="0" rIns="0" bIns="0" rtlCol="0" anchor="ctr"/>
          <a:lstStyle/>
          <a:p>
            <a:pPr indent="0" marL="0">
              <a:buNone/>
            </a:pPr>
            <a:r>
              <a:rPr lang="en-US" sz="900" dirty="0">
                <a:solidFill>
                  <a:schemeClr val="tx2"/>
                </a:solidFill>
              </a:rPr>
              <a:t>MK Workstation</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K_DARK">
    <p:bg>
      <p:bgPr>
        <a:solidFill>
          <a:srgbClr val="0B14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8046720" cy="274320"/>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731520"/>
            <a:ext cx="804672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slideLayout" Target="../slideLayouts/slideLayout3.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MehulK-techie/fedora-workstation-config" TargetMode="External"/><Relationship Id="rId2" Type="http://schemas.openxmlformats.org/officeDocument/2006/relationships/hyperlink" Target="https://github.com/MehulK-techie/fedora-workstation-config/blob/main/docs/GUIDE.md" TargetMode="External"/><Relationship Id="rId3" Type="http://schemas.openxmlformats.org/officeDocument/2006/relationships/hyperlink" Target="https://github.com/MehulK-techie/fedora-workstation-config/blob/main/docs/FEATURES.md" TargetMode="External"/><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tmp/tmp.U4D0us9tfa/img/welcome.jpg">    </p:cNvPr>
          <p:cNvPicPr>
            <a:picLocks noChangeAspect="1"/>
          </p:cNvPicPr>
          <p:nvPr/>
        </p:nvPicPr>
        <p:blipFill>
          <a:blip r:embed="rId1"/>
          <a:srcRect l="0" r="0" t="0" b="0"/>
          <a:stretch/>
        </p:blipFill>
        <p:spPr>
          <a:xfrm>
            <a:off x="4206240" y="0"/>
            <a:ext cx="4937760" cy="5143500"/>
          </a:xfrm>
          <a:prstGeom prst="rect">
            <a:avLst/>
          </a:prstGeom>
        </p:spPr>
      </p:pic>
      <p:sp>
        <p:nvSpPr>
          <p:cNvPr id="3" name="Text 0"/>
          <p:cNvSpPr txBox="1"/>
          <p:nvPr/>
        </p:nvSpPr>
        <p:spPr>
          <a:xfrm>
            <a:off x="548640" y="91440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MK WORKSTATION</a:t>
            </a:r>
            <a:endParaRPr lang="en-US" sz="1200" dirty="0"/>
          </a:p>
        </p:txBody>
      </p:sp>
      <p:sp>
        <p:nvSpPr>
          <p:cNvPr id="4" name="Text 0"/>
          <p:cNvSpPr/>
          <p:nvPr>
            <p:ph idx="100" type="title" hasCustomPrompt="1"/>
          </p:nvPr>
        </p:nvSpPr>
        <p:spPr>
          <a:xfrm>
            <a:off x="548640" y="1280160"/>
            <a:ext cx="3383280" cy="1463040"/>
          </a:xfrm>
          <a:prstGeom prst="rect">
            <a:avLst/>
          </a:prstGeom>
          <a:noFill/>
          <a:ln/>
        </p:spPr>
        <p:txBody>
          <a:bodyPr wrap="square" lIns="0" tIns="0" rIns="0" bIns="0" rtlCol="0" anchor="t"/>
          <a:lstStyle/>
          <a:p>
            <a:pPr algn="l" indent="0" marL="0">
              <a:buNone/>
            </a:pPr>
            <a:r>
              <a:rPr lang="en-US" sz="4800" b="1" dirty="0">
                <a:solidFill>
                  <a:schemeClr val="bg1"/>
                </a:solidFill>
              </a:rPr>
              <a:t>Fedora, finished</a:t>
            </a:r>
            <a:endParaRPr lang="en-US" sz="4800" dirty="0"/>
          </a:p>
        </p:txBody>
      </p:sp>
      <p:sp>
        <p:nvSpPr>
          <p:cNvPr id="5" name="Text 0"/>
          <p:cNvSpPr/>
          <p:nvPr>
            <p:ph idx="101" type="body" hasCustomPrompt="1"/>
          </p:nvPr>
        </p:nvSpPr>
        <p:spPr>
          <a:xfrm>
            <a:off x="548640" y="2971800"/>
            <a:ext cx="3383280" cy="1097280"/>
          </a:xfrm>
          <a:prstGeom prst="rect">
            <a:avLst/>
          </a:prstGeom>
          <a:noFill/>
          <a:ln/>
        </p:spPr>
        <p:txBody>
          <a:bodyPr wrap="square" lIns="0" tIns="0" rIns="0" bIns="0" rtlCol="0" anchor="t"/>
          <a:lstStyle/>
          <a:p>
            <a:pPr indent="0" marL="0">
              <a:buNone/>
            </a:pPr>
            <a:r>
              <a:rPr lang="en-US" sz="1600" dirty="0">
                <a:solidFill>
                  <a:schemeClr val="accent2"/>
                </a:solidFill>
              </a:rPr>
              <a:t>One command turns a fresh Fedora Workstation into a fast, good-looking desktop that already works the way you do.</a:t>
            </a:r>
            <a:endParaRPr lang="en-US" sz="1600" dirty="0"/>
          </a:p>
        </p:txBody>
      </p:sp>
      <p:sp>
        <p:nvSpPr>
          <p:cNvPr id="6" name="Text 3"/>
          <p:cNvSpPr txBox="1"/>
          <p:nvPr/>
        </p:nvSpPr>
        <p:spPr>
          <a:xfrm>
            <a:off x="548640" y="4343400"/>
            <a:ext cx="3840480" cy="274320"/>
          </a:xfrm>
          <a:prstGeom prst="rect">
            <a:avLst/>
          </a:prstGeom>
          <a:noFill/>
          <a:ln/>
        </p:spPr>
        <p:txBody>
          <a:bodyPr wrap="square" lIns="0" tIns="0" rIns="0" bIns="0" rtlCol="0" anchor="ctr"/>
          <a:lstStyle/>
          <a:p>
            <a:pPr indent="0" marL="0">
              <a:buNone/>
            </a:pPr>
            <a:r>
              <a:rPr lang="en-US" sz="1100" dirty="0">
                <a:solidFill>
                  <a:schemeClr val="bg2"/>
                </a:solidFill>
              </a:rPr>
              <a:t>Free and open source · Fedora 44 · GNOME 50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WHY IT EXISTS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Great foundation, bare walls</a:t>
            </a:r>
            <a:endParaRPr lang="en-US" sz="3000" dirty="0"/>
          </a:p>
        </p:txBody>
      </p:sp>
      <p:sp>
        <p:nvSpPr>
          <p:cNvPr id="5" name="Text 2"/>
          <p:cNvSpPr txBox="1"/>
          <p:nvPr/>
        </p:nvSpPr>
        <p:spPr>
          <a:xfrm>
            <a:off x="457200" y="1280160"/>
            <a:ext cx="3931920" cy="1371600"/>
          </a:xfrm>
          <a:prstGeom prst="rect">
            <a:avLst/>
          </a:prstGeom>
          <a:noFill/>
          <a:ln/>
        </p:spPr>
        <p:txBody>
          <a:bodyPr wrap="square" lIns="0" tIns="0" rIns="0" bIns="0" rtlCol="0" anchor="t"/>
          <a:lstStyle/>
          <a:p>
            <a:pPr indent="0" marL="0">
              <a:buNone/>
            </a:pPr>
            <a:r>
              <a:rPr lang="en-US" sz="1600" dirty="0">
                <a:solidFill>
                  <a:schemeClr val="tx2"/>
                </a:solidFill>
              </a:rPr>
              <a:t>Fedora is one of the best Linux systems you can install. Out of the box it's a blank canvas: few apps, missing video codecs, and a desktop that works differently from the one you came from.</a:t>
            </a:r>
            <a:endParaRPr lang="en-US" sz="1600" dirty="0"/>
          </a:p>
        </p:txBody>
      </p:sp>
      <p:sp>
        <p:nvSpPr>
          <p:cNvPr id="6" name="dot-1"/>
          <p:cNvSpPr/>
          <p:nvPr/>
        </p:nvSpPr>
        <p:spPr>
          <a:xfrm>
            <a:off x="457200" y="2807208"/>
            <a:ext cx="384048" cy="384048"/>
          </a:xfrm>
          <a:prstGeom prst="ellipse">
            <a:avLst/>
          </a:prstGeom>
          <a:solidFill>
            <a:schemeClr val="accent1"/>
          </a:solidFill>
          <a:ln/>
        </p:spPr>
      </p:sp>
      <p:pic>
        <p:nvPicPr>
          <p:cNvPr id="7" name="icon-2" descr="/tmp/tmp.U4D0us9tfa/icons/edit-undo.png">    </p:cNvPr>
          <p:cNvPicPr>
            <a:picLocks noChangeAspect="1"/>
          </p:cNvPicPr>
          <p:nvPr/>
        </p:nvPicPr>
        <p:blipFill>
          <a:blip r:embed="rId1"/>
          <a:stretch>
            <a:fillRect/>
          </a:stretch>
        </p:blipFill>
        <p:spPr>
          <a:xfrm>
            <a:off x="548640" y="2898648"/>
            <a:ext cx="201168" cy="201168"/>
          </a:xfrm>
          <a:prstGeom prst="rect">
            <a:avLst/>
          </a:prstGeom>
        </p:spPr>
      </p:pic>
      <p:sp>
        <p:nvSpPr>
          <p:cNvPr id="8" name="row-3"/>
          <p:cNvSpPr txBox="1"/>
          <p:nvPr/>
        </p:nvSpPr>
        <p:spPr>
          <a:xfrm>
            <a:off x="960120" y="2752344"/>
            <a:ext cx="34290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Before</a:t>
            </a:r>
            <a:endParaRPr lang="en-US" sz="1400" dirty="0"/>
          </a:p>
          <a:p>
            <a:pPr indent="0" marL="0">
              <a:spcAft>
                <a:spcPts val="100"/>
              </a:spcAft>
              <a:buNone/>
            </a:pPr>
            <a:r>
              <a:rPr lang="en-US" sz="1400" dirty="0">
                <a:solidFill>
                  <a:schemeClr val="tx2"/>
                </a:solidFill>
              </a:rPr>
              <a:t>a weekend of forum posts, extensions and settings</a:t>
            </a:r>
            <a:endParaRPr lang="en-US" sz="1400" dirty="0"/>
          </a:p>
        </p:txBody>
      </p:sp>
      <p:sp>
        <p:nvSpPr>
          <p:cNvPr id="9" name="dot-4"/>
          <p:cNvSpPr/>
          <p:nvPr/>
        </p:nvSpPr>
        <p:spPr>
          <a:xfrm>
            <a:off x="457200" y="3630168"/>
            <a:ext cx="384048" cy="384048"/>
          </a:xfrm>
          <a:prstGeom prst="ellipse">
            <a:avLst/>
          </a:prstGeom>
          <a:solidFill>
            <a:schemeClr val="accent1"/>
          </a:solidFill>
          <a:ln/>
        </p:spPr>
      </p:sp>
      <p:pic>
        <p:nvPicPr>
          <p:cNvPr id="10" name="icon-5" descr="/tmp/tmp.U4D0us9tfa/icons/software-update-available.png">    </p:cNvPr>
          <p:cNvPicPr>
            <a:picLocks noChangeAspect="1"/>
          </p:cNvPicPr>
          <p:nvPr/>
        </p:nvPicPr>
        <p:blipFill>
          <a:blip r:embed="rId2"/>
          <a:stretch>
            <a:fillRect/>
          </a:stretch>
        </p:blipFill>
        <p:spPr>
          <a:xfrm>
            <a:off x="548640" y="3721608"/>
            <a:ext cx="201168" cy="201168"/>
          </a:xfrm>
          <a:prstGeom prst="rect">
            <a:avLst/>
          </a:prstGeom>
        </p:spPr>
      </p:pic>
      <p:sp>
        <p:nvSpPr>
          <p:cNvPr id="11" name="row-6"/>
          <p:cNvSpPr txBox="1"/>
          <p:nvPr/>
        </p:nvSpPr>
        <p:spPr>
          <a:xfrm>
            <a:off x="960120" y="3575304"/>
            <a:ext cx="34290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After</a:t>
            </a:r>
            <a:endParaRPr lang="en-US" sz="1400" dirty="0"/>
          </a:p>
          <a:p>
            <a:pPr indent="0" marL="0">
              <a:spcAft>
                <a:spcPts val="100"/>
              </a:spcAft>
              <a:buNone/>
            </a:pPr>
            <a:r>
              <a:rPr lang="en-US" sz="1400" dirty="0">
                <a:solidFill>
                  <a:schemeClr val="tx2"/>
                </a:solidFill>
              </a:rPr>
              <a:t>one command, a coffee, a finished desktop</a:t>
            </a:r>
            <a:endParaRPr lang="en-US" sz="1400" dirty="0"/>
          </a:p>
        </p:txBody>
      </p:sp>
      <p:sp>
        <p:nvSpPr>
          <p:cNvPr id="12" name="stat-7"/>
          <p:cNvSpPr/>
          <p:nvPr/>
        </p:nvSpPr>
        <p:spPr>
          <a:xfrm>
            <a:off x="4846320" y="1280160"/>
            <a:ext cx="1828800" cy="1417320"/>
          </a:xfrm>
          <a:prstGeom prst="roundRect">
            <a:avLst>
              <a:gd name="adj" fmla="val 7742"/>
            </a:avLst>
          </a:prstGeom>
          <a:solidFill>
            <a:schemeClr val="bg2"/>
          </a:solidFill>
          <a:ln/>
        </p:spPr>
      </p:sp>
      <p:sp>
        <p:nvSpPr>
          <p:cNvPr id="13" name="statbig-8"/>
          <p:cNvSpPr txBox="1"/>
          <p:nvPr/>
        </p:nvSpPr>
        <p:spPr>
          <a:xfrm>
            <a:off x="5029200" y="1417320"/>
            <a:ext cx="1554480" cy="640080"/>
          </a:xfrm>
          <a:prstGeom prst="rect">
            <a:avLst/>
          </a:prstGeom>
          <a:noFill/>
          <a:ln/>
        </p:spPr>
        <p:txBody>
          <a:bodyPr wrap="square" lIns="0" tIns="0" rIns="0" bIns="0" rtlCol="0" anchor="ctr"/>
          <a:lstStyle/>
          <a:p>
            <a:pPr indent="0" marL="0">
              <a:buNone/>
            </a:pPr>
            <a:r>
              <a:rPr lang="en-US" sz="3600" b="1" dirty="0">
                <a:solidFill>
                  <a:schemeClr val="accent1"/>
                </a:solidFill>
              </a:rPr>
              <a:t>1</a:t>
            </a:r>
            <a:endParaRPr lang="en-US" sz="3600" dirty="0"/>
          </a:p>
        </p:txBody>
      </p:sp>
      <p:sp>
        <p:nvSpPr>
          <p:cNvPr id="14" name="statsmall-9"/>
          <p:cNvSpPr txBox="1"/>
          <p:nvPr/>
        </p:nvSpPr>
        <p:spPr>
          <a:xfrm>
            <a:off x="5029200" y="2057400"/>
            <a:ext cx="1554480" cy="548640"/>
          </a:xfrm>
          <a:prstGeom prst="rect">
            <a:avLst/>
          </a:prstGeom>
          <a:noFill/>
          <a:ln/>
        </p:spPr>
        <p:txBody>
          <a:bodyPr wrap="square" lIns="0" tIns="0" rIns="0" bIns="0" rtlCol="0" anchor="t"/>
          <a:lstStyle/>
          <a:p>
            <a:pPr indent="0" marL="0">
              <a:buNone/>
            </a:pPr>
            <a:r>
              <a:rPr lang="en-US" sz="1200" dirty="0">
                <a:solidFill>
                  <a:schemeClr val="tx2"/>
                </a:solidFill>
              </a:rPr>
              <a:t>command sets up</a:t>
            </a:r>
            <a:endParaRPr lang="en-US" sz="1200" dirty="0"/>
          </a:p>
          <a:p>
            <a:pPr indent="0" marL="0">
              <a:buNone/>
            </a:pPr>
            <a:r>
              <a:rPr lang="en-US" sz="1200" dirty="0">
                <a:solidFill>
                  <a:schemeClr val="tx2"/>
                </a:solidFill>
              </a:rPr>
              <a:t>the whole desktop</a:t>
            </a:r>
            <a:endParaRPr lang="en-US" sz="1200" dirty="0"/>
          </a:p>
        </p:txBody>
      </p:sp>
      <p:sp>
        <p:nvSpPr>
          <p:cNvPr id="15" name="stat-10"/>
          <p:cNvSpPr/>
          <p:nvPr/>
        </p:nvSpPr>
        <p:spPr>
          <a:xfrm>
            <a:off x="6812280" y="1280160"/>
            <a:ext cx="1828800" cy="1417320"/>
          </a:xfrm>
          <a:prstGeom prst="roundRect">
            <a:avLst>
              <a:gd name="adj" fmla="val 7742"/>
            </a:avLst>
          </a:prstGeom>
          <a:solidFill>
            <a:schemeClr val="bg2"/>
          </a:solidFill>
          <a:ln/>
        </p:spPr>
      </p:sp>
      <p:sp>
        <p:nvSpPr>
          <p:cNvPr id="16" name="statbig-11"/>
          <p:cNvSpPr txBox="1"/>
          <p:nvPr/>
        </p:nvSpPr>
        <p:spPr>
          <a:xfrm>
            <a:off x="6995160" y="1417320"/>
            <a:ext cx="1554480" cy="640080"/>
          </a:xfrm>
          <a:prstGeom prst="rect">
            <a:avLst/>
          </a:prstGeom>
          <a:noFill/>
          <a:ln/>
        </p:spPr>
        <p:txBody>
          <a:bodyPr wrap="square" lIns="0" tIns="0" rIns="0" bIns="0" rtlCol="0" anchor="ctr"/>
          <a:lstStyle/>
          <a:p>
            <a:pPr indent="0" marL="0">
              <a:buNone/>
            </a:pPr>
            <a:r>
              <a:rPr lang="en-US" sz="3600" b="1" dirty="0">
                <a:solidFill>
                  <a:schemeClr val="accent1"/>
                </a:solidFill>
              </a:rPr>
              <a:t>~15 min</a:t>
            </a:r>
            <a:endParaRPr lang="en-US" sz="3600" dirty="0"/>
          </a:p>
        </p:txBody>
      </p:sp>
      <p:sp>
        <p:nvSpPr>
          <p:cNvPr id="17" name="statsmall-12"/>
          <p:cNvSpPr txBox="1"/>
          <p:nvPr/>
        </p:nvSpPr>
        <p:spPr>
          <a:xfrm>
            <a:off x="6995160" y="2057400"/>
            <a:ext cx="1554480" cy="548640"/>
          </a:xfrm>
          <a:prstGeom prst="rect">
            <a:avLst/>
          </a:prstGeom>
          <a:noFill/>
          <a:ln/>
        </p:spPr>
        <p:txBody>
          <a:bodyPr wrap="square" lIns="0" tIns="0" rIns="0" bIns="0" rtlCol="0" anchor="t"/>
          <a:lstStyle/>
          <a:p>
            <a:pPr indent="0" marL="0">
              <a:buNone/>
            </a:pPr>
            <a:r>
              <a:rPr lang="en-US" sz="1200" dirty="0">
                <a:solidFill>
                  <a:schemeClr val="tx2"/>
                </a:solidFill>
              </a:rPr>
              <a:t>from fresh install</a:t>
            </a:r>
            <a:endParaRPr lang="en-US" sz="1200" dirty="0"/>
          </a:p>
          <a:p>
            <a:pPr indent="0" marL="0">
              <a:buNone/>
            </a:pPr>
            <a:r>
              <a:rPr lang="en-US" sz="1200" dirty="0">
                <a:solidFill>
                  <a:schemeClr val="tx2"/>
                </a:solidFill>
              </a:rPr>
              <a:t>to finished</a:t>
            </a:r>
            <a:endParaRPr lang="en-US" sz="1200" dirty="0"/>
          </a:p>
        </p:txBody>
      </p:sp>
      <p:sp>
        <p:nvSpPr>
          <p:cNvPr id="18" name="stat-13"/>
          <p:cNvSpPr/>
          <p:nvPr/>
        </p:nvSpPr>
        <p:spPr>
          <a:xfrm>
            <a:off x="4846320" y="2880360"/>
            <a:ext cx="1828800" cy="1417320"/>
          </a:xfrm>
          <a:prstGeom prst="roundRect">
            <a:avLst>
              <a:gd name="adj" fmla="val 7742"/>
            </a:avLst>
          </a:prstGeom>
          <a:solidFill>
            <a:schemeClr val="bg2"/>
          </a:solidFill>
          <a:ln/>
        </p:spPr>
      </p:sp>
      <p:sp>
        <p:nvSpPr>
          <p:cNvPr id="19" name="statbig-14"/>
          <p:cNvSpPr txBox="1"/>
          <p:nvPr/>
        </p:nvSpPr>
        <p:spPr>
          <a:xfrm>
            <a:off x="5029200" y="3017520"/>
            <a:ext cx="1554480" cy="640080"/>
          </a:xfrm>
          <a:prstGeom prst="rect">
            <a:avLst/>
          </a:prstGeom>
          <a:noFill/>
          <a:ln/>
        </p:spPr>
        <p:txBody>
          <a:bodyPr wrap="square" lIns="0" tIns="0" rIns="0" bIns="0" rtlCol="0" anchor="ctr"/>
          <a:lstStyle/>
          <a:p>
            <a:pPr indent="0" marL="0">
              <a:buNone/>
            </a:pPr>
            <a:r>
              <a:rPr lang="en-US" sz="3600" b="1" dirty="0">
                <a:solidFill>
                  <a:schemeClr val="accent1"/>
                </a:solidFill>
              </a:rPr>
              <a:t>0</a:t>
            </a:r>
            <a:endParaRPr lang="en-US" sz="3600" dirty="0"/>
          </a:p>
        </p:txBody>
      </p:sp>
      <p:sp>
        <p:nvSpPr>
          <p:cNvPr id="20" name="statsmall-15"/>
          <p:cNvSpPr txBox="1"/>
          <p:nvPr/>
        </p:nvSpPr>
        <p:spPr>
          <a:xfrm>
            <a:off x="5029200" y="3657600"/>
            <a:ext cx="1554480" cy="548640"/>
          </a:xfrm>
          <a:prstGeom prst="rect">
            <a:avLst/>
          </a:prstGeom>
          <a:noFill/>
          <a:ln/>
        </p:spPr>
        <p:txBody>
          <a:bodyPr wrap="square" lIns="0" tIns="0" rIns="0" bIns="0" rtlCol="0" anchor="t"/>
          <a:lstStyle/>
          <a:p>
            <a:pPr indent="0" marL="0">
              <a:buNone/>
            </a:pPr>
            <a:r>
              <a:rPr lang="en-US" sz="1200" dirty="0">
                <a:solidFill>
                  <a:schemeClr val="tx2"/>
                </a:solidFill>
              </a:rPr>
              <a:t>settings you need</a:t>
            </a:r>
            <a:endParaRPr lang="en-US" sz="1200" dirty="0"/>
          </a:p>
          <a:p>
            <a:pPr indent="0" marL="0">
              <a:buNone/>
            </a:pPr>
            <a:r>
              <a:rPr lang="en-US" sz="1200" dirty="0">
                <a:solidFill>
                  <a:schemeClr val="tx2"/>
                </a:solidFill>
              </a:rPr>
              <a:t>to look up</a:t>
            </a:r>
            <a:endParaRPr lang="en-US" sz="1200" dirty="0"/>
          </a:p>
        </p:txBody>
      </p:sp>
      <p:sp>
        <p:nvSpPr>
          <p:cNvPr id="21" name="stat-16"/>
          <p:cNvSpPr/>
          <p:nvPr/>
        </p:nvSpPr>
        <p:spPr>
          <a:xfrm>
            <a:off x="6812280" y="2880360"/>
            <a:ext cx="1828800" cy="1417320"/>
          </a:xfrm>
          <a:prstGeom prst="roundRect">
            <a:avLst>
              <a:gd name="adj" fmla="val 7742"/>
            </a:avLst>
          </a:prstGeom>
          <a:solidFill>
            <a:schemeClr val="bg2"/>
          </a:solidFill>
          <a:ln/>
        </p:spPr>
      </p:sp>
      <p:sp>
        <p:nvSpPr>
          <p:cNvPr id="22" name="statbig-17"/>
          <p:cNvSpPr txBox="1"/>
          <p:nvPr/>
        </p:nvSpPr>
        <p:spPr>
          <a:xfrm>
            <a:off x="6995160" y="3017520"/>
            <a:ext cx="1554480" cy="640080"/>
          </a:xfrm>
          <a:prstGeom prst="rect">
            <a:avLst/>
          </a:prstGeom>
          <a:noFill/>
          <a:ln/>
        </p:spPr>
        <p:txBody>
          <a:bodyPr wrap="square" lIns="0" tIns="0" rIns="0" bIns="0" rtlCol="0" anchor="ctr"/>
          <a:lstStyle/>
          <a:p>
            <a:pPr indent="0" marL="0">
              <a:buNone/>
            </a:pPr>
            <a:r>
              <a:rPr lang="en-US" sz="3600" b="1" dirty="0">
                <a:solidFill>
                  <a:schemeClr val="accent1"/>
                </a:solidFill>
              </a:rPr>
              <a:t>100%</a:t>
            </a:r>
            <a:endParaRPr lang="en-US" sz="3600" dirty="0"/>
          </a:p>
        </p:txBody>
      </p:sp>
      <p:sp>
        <p:nvSpPr>
          <p:cNvPr id="23" name="statsmall-18"/>
          <p:cNvSpPr txBox="1"/>
          <p:nvPr/>
        </p:nvSpPr>
        <p:spPr>
          <a:xfrm>
            <a:off x="6995160" y="3657600"/>
            <a:ext cx="1554480" cy="548640"/>
          </a:xfrm>
          <a:prstGeom prst="rect">
            <a:avLst/>
          </a:prstGeom>
          <a:noFill/>
          <a:ln/>
        </p:spPr>
        <p:txBody>
          <a:bodyPr wrap="square" lIns="0" tIns="0" rIns="0" bIns="0" rtlCol="0" anchor="t"/>
          <a:lstStyle/>
          <a:p>
            <a:pPr indent="0" marL="0">
              <a:buNone/>
            </a:pPr>
            <a:r>
              <a:rPr lang="en-US" sz="1200" dirty="0">
                <a:solidFill>
                  <a:schemeClr val="tx2"/>
                </a:solidFill>
              </a:rPr>
              <a:t>open source, scripts</a:t>
            </a:r>
            <a:endParaRPr lang="en-US" sz="1200" dirty="0"/>
          </a:p>
          <a:p>
            <a:pPr indent="0" marL="0">
              <a:buNone/>
            </a:pPr>
            <a:r>
              <a:rPr lang="en-US" sz="1200" dirty="0">
                <a:solidFill>
                  <a:schemeClr val="tx2"/>
                </a:solidFill>
              </a:rPr>
              <a:t>you can read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MOVING BETWEEN APPS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Every window, live, one swipe away</a:t>
            </a:r>
            <a:endParaRPr lang="en-US" sz="3000" dirty="0"/>
          </a:p>
        </p:txBody>
      </p:sp>
      <p:pic>
        <p:nvPicPr>
          <p:cNvPr id="5" name="alttab-19" descr="/tmp/tmp.U4D0us9tfa/img/alttab.jpg">    </p:cNvPr>
          <p:cNvPicPr>
            <a:picLocks noChangeAspect="1"/>
          </p:cNvPicPr>
          <p:nvPr/>
        </p:nvPicPr>
        <p:blipFill>
          <a:blip r:embed="rId1"/>
          <a:stretch>
            <a:fillRect/>
          </a:stretch>
        </p:blipFill>
        <p:spPr>
          <a:xfrm>
            <a:off x="457200" y="1280160"/>
            <a:ext cx="5120640" cy="2880360"/>
          </a:xfrm>
          <a:prstGeom prst="rect">
            <a:avLst/>
          </a:prstGeom>
          <a:effectLst>
            <a:outerShdw sx="100000" sy="100000" kx="0" ky="0" algn="bl" rotWithShape="0" blurRad="127000" dist="38100" dir="5400000">
              <a:srgbClr val="0B1430">
                <a:alpha val="18000"/>
              </a:srgbClr>
            </a:outerShdw>
          </a:effectLst>
        </p:spPr>
      </p:pic>
      <p:sp>
        <p:nvSpPr>
          <p:cNvPr id="6" name="caption-20"/>
          <p:cNvSpPr txBox="1"/>
          <p:nvPr/>
        </p:nvSpPr>
        <p:spPr>
          <a:xfrm>
            <a:off x="457200" y="4251960"/>
            <a:ext cx="5120640" cy="274320"/>
          </a:xfrm>
          <a:prstGeom prst="rect">
            <a:avLst/>
          </a:prstGeom>
          <a:noFill/>
          <a:ln/>
        </p:spPr>
        <p:txBody>
          <a:bodyPr wrap="square" lIns="0" tIns="0" rIns="0" bIns="0" rtlCol="0" anchor="ctr"/>
          <a:lstStyle/>
          <a:p>
            <a:pPr indent="0" marL="0">
              <a:buNone/>
            </a:pPr>
            <a:r>
              <a:rPr lang="en-US" sz="1000" i="1" dirty="0">
                <a:solidFill>
                  <a:schemeClr val="tx2"/>
                </a:solidFill>
              </a:rPr>
              <a:t>A compact card of live windows that appears at once</a:t>
            </a:r>
            <a:endParaRPr lang="en-US" sz="1000" dirty="0"/>
          </a:p>
        </p:txBody>
      </p:sp>
      <p:sp>
        <p:nvSpPr>
          <p:cNvPr id="7" name="dot-21"/>
          <p:cNvSpPr/>
          <p:nvPr/>
        </p:nvSpPr>
        <p:spPr>
          <a:xfrm>
            <a:off x="5852160" y="1344168"/>
            <a:ext cx="384048" cy="384048"/>
          </a:xfrm>
          <a:prstGeom prst="ellipse">
            <a:avLst/>
          </a:prstGeom>
          <a:solidFill>
            <a:schemeClr val="accent1"/>
          </a:solidFill>
          <a:ln/>
        </p:spPr>
      </p:sp>
      <p:pic>
        <p:nvPicPr>
          <p:cNvPr id="8" name="icon-22" descr="/tmp/tmp.U4D0us9tfa/icons/view-grid.png">    </p:cNvPr>
          <p:cNvPicPr>
            <a:picLocks noChangeAspect="1"/>
          </p:cNvPicPr>
          <p:nvPr/>
        </p:nvPicPr>
        <p:blipFill>
          <a:blip r:embed="rId2"/>
          <a:stretch>
            <a:fillRect/>
          </a:stretch>
        </p:blipFill>
        <p:spPr>
          <a:xfrm>
            <a:off x="5943600" y="1435608"/>
            <a:ext cx="201168" cy="201168"/>
          </a:xfrm>
          <a:prstGeom prst="rect">
            <a:avLst/>
          </a:prstGeom>
        </p:spPr>
      </p:pic>
      <p:sp>
        <p:nvSpPr>
          <p:cNvPr id="9" name="row-23"/>
          <p:cNvSpPr txBox="1"/>
          <p:nvPr/>
        </p:nvSpPr>
        <p:spPr>
          <a:xfrm>
            <a:off x="6355080" y="128930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Live previews</a:t>
            </a:r>
            <a:endParaRPr lang="en-US" sz="1400" dirty="0"/>
          </a:p>
          <a:p>
            <a:pPr indent="0" marL="0">
              <a:spcAft>
                <a:spcPts val="100"/>
              </a:spcAft>
              <a:buNone/>
            </a:pPr>
            <a:r>
              <a:rPr lang="en-US" sz="1400" dirty="0">
                <a:solidFill>
                  <a:schemeClr val="tx2"/>
                </a:solidFill>
              </a:rPr>
              <a:t>titles, icons, which desktop</a:t>
            </a:r>
            <a:endParaRPr lang="en-US" sz="1400" dirty="0"/>
          </a:p>
        </p:txBody>
      </p:sp>
      <p:sp>
        <p:nvSpPr>
          <p:cNvPr id="10" name="dot-24"/>
          <p:cNvSpPr/>
          <p:nvPr/>
        </p:nvSpPr>
        <p:spPr>
          <a:xfrm>
            <a:off x="5852160" y="2121408"/>
            <a:ext cx="384048" cy="384048"/>
          </a:xfrm>
          <a:prstGeom prst="ellipse">
            <a:avLst/>
          </a:prstGeom>
          <a:solidFill>
            <a:schemeClr val="accent1"/>
          </a:solidFill>
          <a:ln/>
        </p:spPr>
      </p:sp>
      <p:pic>
        <p:nvPicPr>
          <p:cNvPr id="11" name="icon-25" descr="/tmp/tmp.U4D0us9tfa/icons/input-touchpad.png">    </p:cNvPr>
          <p:cNvPicPr>
            <a:picLocks noChangeAspect="1"/>
          </p:cNvPicPr>
          <p:nvPr/>
        </p:nvPicPr>
        <p:blipFill>
          <a:blip r:embed="rId3"/>
          <a:stretch>
            <a:fillRect/>
          </a:stretch>
        </p:blipFill>
        <p:spPr>
          <a:xfrm>
            <a:off x="5943600" y="2212848"/>
            <a:ext cx="201168" cy="201168"/>
          </a:xfrm>
          <a:prstGeom prst="rect">
            <a:avLst/>
          </a:prstGeom>
        </p:spPr>
      </p:pic>
      <p:sp>
        <p:nvSpPr>
          <p:cNvPr id="12" name="row-26"/>
          <p:cNvSpPr txBox="1"/>
          <p:nvPr/>
        </p:nvSpPr>
        <p:spPr>
          <a:xfrm>
            <a:off x="6355080" y="206654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Three fingers</a:t>
            </a:r>
            <a:endParaRPr lang="en-US" sz="1400" dirty="0"/>
          </a:p>
          <a:p>
            <a:pPr indent="0" marL="0">
              <a:spcAft>
                <a:spcPts val="100"/>
              </a:spcAft>
              <a:buNone/>
            </a:pPr>
            <a:r>
              <a:rPr lang="en-US" sz="1400" dirty="0">
                <a:solidFill>
                  <a:schemeClr val="tx2"/>
                </a:solidFill>
              </a:rPr>
              <a:t>same finger travel per window</a:t>
            </a:r>
            <a:endParaRPr lang="en-US" sz="1400" dirty="0"/>
          </a:p>
        </p:txBody>
      </p:sp>
      <p:sp>
        <p:nvSpPr>
          <p:cNvPr id="13" name="dot-27"/>
          <p:cNvSpPr/>
          <p:nvPr/>
        </p:nvSpPr>
        <p:spPr>
          <a:xfrm>
            <a:off x="5852160" y="2898648"/>
            <a:ext cx="384048" cy="384048"/>
          </a:xfrm>
          <a:prstGeom prst="ellipse">
            <a:avLst/>
          </a:prstGeom>
          <a:solidFill>
            <a:schemeClr val="accent1"/>
          </a:solidFill>
          <a:ln/>
        </p:spPr>
      </p:sp>
      <p:pic>
        <p:nvPicPr>
          <p:cNvPr id="14" name="icon-28" descr="/tmp/tmp.U4D0us9tfa/icons/view-dual.png">    </p:cNvPr>
          <p:cNvPicPr>
            <a:picLocks noChangeAspect="1"/>
          </p:cNvPicPr>
          <p:nvPr/>
        </p:nvPicPr>
        <p:blipFill>
          <a:blip r:embed="rId4"/>
          <a:stretch>
            <a:fillRect/>
          </a:stretch>
        </p:blipFill>
        <p:spPr>
          <a:xfrm>
            <a:off x="5943600" y="2990088"/>
            <a:ext cx="201168" cy="201168"/>
          </a:xfrm>
          <a:prstGeom prst="rect">
            <a:avLst/>
          </a:prstGeom>
        </p:spPr>
      </p:pic>
      <p:sp>
        <p:nvSpPr>
          <p:cNvPr id="15" name="row-29"/>
          <p:cNvSpPr txBox="1"/>
          <p:nvPr/>
        </p:nvSpPr>
        <p:spPr>
          <a:xfrm>
            <a:off x="6355080" y="284378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Move as you go</a:t>
            </a:r>
            <a:endParaRPr lang="en-US" sz="1400" dirty="0"/>
          </a:p>
          <a:p>
            <a:pPr indent="0" marL="0">
              <a:spcAft>
                <a:spcPts val="100"/>
              </a:spcAft>
              <a:buNone/>
            </a:pPr>
            <a:r>
              <a:rPr lang="en-US" sz="1400" dirty="0">
                <a:solidFill>
                  <a:schemeClr val="tx2"/>
                </a:solidFill>
              </a:rPr>
              <a:t>1–9 sends it to that desktop</a:t>
            </a:r>
            <a:endParaRPr lang="en-US" sz="1400" dirty="0"/>
          </a:p>
        </p:txBody>
      </p:sp>
      <p:sp>
        <p:nvSpPr>
          <p:cNvPr id="16" name="dot-30"/>
          <p:cNvSpPr/>
          <p:nvPr/>
        </p:nvSpPr>
        <p:spPr>
          <a:xfrm>
            <a:off x="5852160" y="3675888"/>
            <a:ext cx="384048" cy="384048"/>
          </a:xfrm>
          <a:prstGeom prst="ellipse">
            <a:avLst/>
          </a:prstGeom>
          <a:solidFill>
            <a:schemeClr val="accent1"/>
          </a:solidFill>
          <a:ln/>
        </p:spPr>
      </p:sp>
      <p:pic>
        <p:nvPicPr>
          <p:cNvPr id="17" name="icon-31" descr="/tmp/tmp.U4D0us9tfa/icons/system-run.png">    </p:cNvPr>
          <p:cNvPicPr>
            <a:picLocks noChangeAspect="1"/>
          </p:cNvPicPr>
          <p:nvPr/>
        </p:nvPicPr>
        <p:blipFill>
          <a:blip r:embed="rId5"/>
          <a:stretch>
            <a:fillRect/>
          </a:stretch>
        </p:blipFill>
        <p:spPr>
          <a:xfrm>
            <a:off x="5943600" y="3767328"/>
            <a:ext cx="201168" cy="201168"/>
          </a:xfrm>
          <a:prstGeom prst="rect">
            <a:avLst/>
          </a:prstGeom>
        </p:spPr>
      </p:pic>
      <p:sp>
        <p:nvSpPr>
          <p:cNvPr id="18" name="row-32"/>
          <p:cNvSpPr txBox="1"/>
          <p:nvPr/>
        </p:nvSpPr>
        <p:spPr>
          <a:xfrm>
            <a:off x="6355080" y="362102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As fast as GNOME</a:t>
            </a:r>
            <a:endParaRPr lang="en-US" sz="1400" dirty="0"/>
          </a:p>
          <a:p>
            <a:pPr indent="0" marL="0">
              <a:spcAft>
                <a:spcPts val="100"/>
              </a:spcAft>
              <a:buNone/>
            </a:pPr>
            <a:r>
              <a:rPr lang="en-US" sz="1400" dirty="0">
                <a:solidFill>
                  <a:schemeClr val="tx2"/>
                </a:solidFill>
              </a:rPr>
              <a:t>measured, frame for frame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WINDOWS THAT BEHAVE</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Snap, tile, focus. No dragging.</a:t>
            </a:r>
            <a:endParaRPr lang="en-US" sz="3000" dirty="0"/>
          </a:p>
        </p:txBody>
      </p:sp>
      <p:pic>
        <p:nvPicPr>
          <p:cNvPr id="5" name="tiled-33" descr="/tmp/tmp.U4D0us9tfa/img/tiled.jpg">    </p:cNvPr>
          <p:cNvPicPr>
            <a:picLocks noChangeAspect="1"/>
          </p:cNvPicPr>
          <p:nvPr/>
        </p:nvPicPr>
        <p:blipFill>
          <a:blip r:embed="rId1"/>
          <a:stretch>
            <a:fillRect/>
          </a:stretch>
        </p:blipFill>
        <p:spPr>
          <a:xfrm>
            <a:off x="457200" y="1280160"/>
            <a:ext cx="5120640" cy="2880360"/>
          </a:xfrm>
          <a:prstGeom prst="rect">
            <a:avLst/>
          </a:prstGeom>
          <a:effectLst>
            <a:outerShdw sx="100000" sy="100000" kx="0" ky="0" algn="bl" rotWithShape="0" blurRad="127000" dist="38100" dir="5400000">
              <a:srgbClr val="0B1430">
                <a:alpha val="18000"/>
              </a:srgbClr>
            </a:outerShdw>
          </a:effectLst>
        </p:spPr>
      </p:pic>
      <p:sp>
        <p:nvSpPr>
          <p:cNvPr id="6" name="caption-34"/>
          <p:cNvSpPr txBox="1"/>
          <p:nvPr/>
        </p:nvSpPr>
        <p:spPr>
          <a:xfrm>
            <a:off x="457200" y="4251960"/>
            <a:ext cx="5120640" cy="274320"/>
          </a:xfrm>
          <a:prstGeom prst="rect">
            <a:avLst/>
          </a:prstGeom>
          <a:noFill/>
          <a:ln/>
        </p:spPr>
        <p:txBody>
          <a:bodyPr wrap="square" lIns="0" tIns="0" rIns="0" bIns="0" rtlCol="0" anchor="ctr"/>
          <a:lstStyle/>
          <a:p>
            <a:pPr indent="0" marL="0">
              <a:buNone/>
            </a:pPr>
            <a:r>
              <a:rPr lang="en-US" sz="1000" i="1" dirty="0">
                <a:solidFill>
                  <a:schemeClr val="tx2"/>
                </a:solidFill>
              </a:rPr>
              <a:t>Halves and quarters with Super and the arrow keys</a:t>
            </a:r>
            <a:endParaRPr lang="en-US" sz="1000" dirty="0"/>
          </a:p>
        </p:txBody>
      </p:sp>
      <p:sp>
        <p:nvSpPr>
          <p:cNvPr id="7" name="dot-35"/>
          <p:cNvSpPr/>
          <p:nvPr/>
        </p:nvSpPr>
        <p:spPr>
          <a:xfrm>
            <a:off x="5852160" y="1344168"/>
            <a:ext cx="384048" cy="384048"/>
          </a:xfrm>
          <a:prstGeom prst="ellipse">
            <a:avLst/>
          </a:prstGeom>
          <a:solidFill>
            <a:schemeClr val="accent1"/>
          </a:solidFill>
          <a:ln/>
        </p:spPr>
      </p:sp>
      <p:pic>
        <p:nvPicPr>
          <p:cNvPr id="8" name="icon-36" descr="/tmp/tmp.U4D0us9tfa/icons/view-dual.png">    </p:cNvPr>
          <p:cNvPicPr>
            <a:picLocks noChangeAspect="1"/>
          </p:cNvPicPr>
          <p:nvPr/>
        </p:nvPicPr>
        <p:blipFill>
          <a:blip r:embed="rId2"/>
          <a:stretch>
            <a:fillRect/>
          </a:stretch>
        </p:blipFill>
        <p:spPr>
          <a:xfrm>
            <a:off x="5943600" y="1435608"/>
            <a:ext cx="201168" cy="201168"/>
          </a:xfrm>
          <a:prstGeom prst="rect">
            <a:avLst/>
          </a:prstGeom>
        </p:spPr>
      </p:pic>
      <p:sp>
        <p:nvSpPr>
          <p:cNvPr id="9" name="row-37"/>
          <p:cNvSpPr txBox="1"/>
          <p:nvPr/>
        </p:nvSpPr>
        <p:spPr>
          <a:xfrm>
            <a:off x="6355080" y="128930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Snap layouts</a:t>
            </a:r>
            <a:endParaRPr lang="en-US" sz="1400" dirty="0"/>
          </a:p>
          <a:p>
            <a:pPr indent="0" marL="0">
              <a:spcAft>
                <a:spcPts val="100"/>
              </a:spcAft>
              <a:buNone/>
            </a:pPr>
            <a:r>
              <a:rPr lang="en-US" sz="1400" dirty="0">
                <a:solidFill>
                  <a:schemeClr val="tx2"/>
                </a:solidFill>
              </a:rPr>
              <a:t>Super+Z, pick one, the rest fill in</a:t>
            </a:r>
            <a:endParaRPr lang="en-US" sz="1400" dirty="0"/>
          </a:p>
        </p:txBody>
      </p:sp>
      <p:sp>
        <p:nvSpPr>
          <p:cNvPr id="10" name="dot-38"/>
          <p:cNvSpPr/>
          <p:nvPr/>
        </p:nvSpPr>
        <p:spPr>
          <a:xfrm>
            <a:off x="5852160" y="2121408"/>
            <a:ext cx="384048" cy="384048"/>
          </a:xfrm>
          <a:prstGeom prst="ellipse">
            <a:avLst/>
          </a:prstGeom>
          <a:solidFill>
            <a:schemeClr val="accent1"/>
          </a:solidFill>
          <a:ln/>
        </p:spPr>
      </p:sp>
      <p:pic>
        <p:nvPicPr>
          <p:cNvPr id="11" name="icon-39" descr="/tmp/tmp.U4D0us9tfa/icons/window-new.png">    </p:cNvPr>
          <p:cNvPicPr>
            <a:picLocks noChangeAspect="1"/>
          </p:cNvPicPr>
          <p:nvPr/>
        </p:nvPicPr>
        <p:blipFill>
          <a:blip r:embed="rId3"/>
          <a:stretch>
            <a:fillRect/>
          </a:stretch>
        </p:blipFill>
        <p:spPr>
          <a:xfrm>
            <a:off x="5943600" y="2212848"/>
            <a:ext cx="201168" cy="201168"/>
          </a:xfrm>
          <a:prstGeom prst="rect">
            <a:avLst/>
          </a:prstGeom>
        </p:spPr>
      </p:pic>
      <p:sp>
        <p:nvSpPr>
          <p:cNvPr id="12" name="row-40"/>
          <p:cNvSpPr txBox="1"/>
          <p:nvPr/>
        </p:nvSpPr>
        <p:spPr>
          <a:xfrm>
            <a:off x="6355080" y="206654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Snap Assist</a:t>
            </a:r>
            <a:endParaRPr lang="en-US" sz="1400" dirty="0"/>
          </a:p>
          <a:p>
            <a:pPr indent="0" marL="0">
              <a:spcAft>
                <a:spcPts val="100"/>
              </a:spcAft>
              <a:buNone/>
            </a:pPr>
            <a:r>
              <a:rPr lang="en-US" sz="1400" dirty="0">
                <a:solidFill>
                  <a:schemeClr val="tx2"/>
                </a:solidFill>
              </a:rPr>
              <a:t>offers your other windows for the space</a:t>
            </a:r>
            <a:endParaRPr lang="en-US" sz="1400" dirty="0"/>
          </a:p>
        </p:txBody>
      </p:sp>
      <p:sp>
        <p:nvSpPr>
          <p:cNvPr id="13" name="dot-41"/>
          <p:cNvSpPr/>
          <p:nvPr/>
        </p:nvSpPr>
        <p:spPr>
          <a:xfrm>
            <a:off x="5852160" y="2898648"/>
            <a:ext cx="384048" cy="384048"/>
          </a:xfrm>
          <a:prstGeom prst="ellipse">
            <a:avLst/>
          </a:prstGeom>
          <a:solidFill>
            <a:schemeClr val="accent1"/>
          </a:solidFill>
          <a:ln/>
        </p:spPr>
      </p:sp>
      <p:pic>
        <p:nvPicPr>
          <p:cNvPr id="14" name="icon-42" descr="/tmp/tmp.U4D0us9tfa/icons/view-pin.png">    </p:cNvPr>
          <p:cNvPicPr>
            <a:picLocks noChangeAspect="1"/>
          </p:cNvPicPr>
          <p:nvPr/>
        </p:nvPicPr>
        <p:blipFill>
          <a:blip r:embed="rId4"/>
          <a:stretch>
            <a:fillRect/>
          </a:stretch>
        </p:blipFill>
        <p:spPr>
          <a:xfrm>
            <a:off x="5943600" y="2990088"/>
            <a:ext cx="201168" cy="201168"/>
          </a:xfrm>
          <a:prstGeom prst="rect">
            <a:avLst/>
          </a:prstGeom>
        </p:spPr>
      </p:pic>
      <p:sp>
        <p:nvSpPr>
          <p:cNvPr id="15" name="row-43"/>
          <p:cNvSpPr txBox="1"/>
          <p:nvPr/>
        </p:nvSpPr>
        <p:spPr>
          <a:xfrm>
            <a:off x="6355080" y="284378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Always on top</a:t>
            </a:r>
            <a:endParaRPr lang="en-US" sz="1400" dirty="0"/>
          </a:p>
          <a:p>
            <a:pPr indent="0" marL="0">
              <a:spcAft>
                <a:spcPts val="100"/>
              </a:spcAft>
              <a:buNone/>
            </a:pPr>
            <a:r>
              <a:rPr lang="en-US" sz="1400" dirty="0">
                <a:solidFill>
                  <a:schemeClr val="tx2"/>
                </a:solidFill>
              </a:rPr>
              <a:t>Super+Ctrl+T for a video or a calculator</a:t>
            </a:r>
            <a:endParaRPr lang="en-US" sz="1400" dirty="0"/>
          </a:p>
        </p:txBody>
      </p:sp>
      <p:sp>
        <p:nvSpPr>
          <p:cNvPr id="16" name="dot-44"/>
          <p:cNvSpPr/>
          <p:nvPr/>
        </p:nvSpPr>
        <p:spPr>
          <a:xfrm>
            <a:off x="5852160" y="3675888"/>
            <a:ext cx="384048" cy="384048"/>
          </a:xfrm>
          <a:prstGeom prst="ellipse">
            <a:avLst/>
          </a:prstGeom>
          <a:solidFill>
            <a:schemeClr val="accent1"/>
          </a:solidFill>
          <a:ln/>
        </p:spPr>
      </p:sp>
      <p:pic>
        <p:nvPicPr>
          <p:cNvPr id="17" name="icon-45" descr="/tmp/tmp.U4D0us9tfa/icons/view-grid.png">    </p:cNvPr>
          <p:cNvPicPr>
            <a:picLocks noChangeAspect="1"/>
          </p:cNvPicPr>
          <p:nvPr/>
        </p:nvPicPr>
        <p:blipFill>
          <a:blip r:embed="rId5"/>
          <a:stretch>
            <a:fillRect/>
          </a:stretch>
        </p:blipFill>
        <p:spPr>
          <a:xfrm>
            <a:off x="5943600" y="3767328"/>
            <a:ext cx="201168" cy="201168"/>
          </a:xfrm>
          <a:prstGeom prst="rect">
            <a:avLst/>
          </a:prstGeom>
        </p:spPr>
      </p:pic>
      <p:sp>
        <p:nvSpPr>
          <p:cNvPr id="18" name="row-46"/>
          <p:cNvSpPr txBox="1"/>
          <p:nvPr/>
        </p:nvSpPr>
        <p:spPr>
          <a:xfrm>
            <a:off x="6355080" y="362102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New desktop</a:t>
            </a:r>
            <a:endParaRPr lang="en-US" sz="1400" dirty="0"/>
          </a:p>
          <a:p>
            <a:pPr indent="0" marL="0">
              <a:spcAft>
                <a:spcPts val="100"/>
              </a:spcAft>
              <a:buNone/>
            </a:pPr>
            <a:r>
              <a:rPr lang="en-US" sz="1400" dirty="0">
                <a:solidFill>
                  <a:schemeClr val="tx2"/>
                </a:solidFill>
              </a:rPr>
              <a:t>Super+Ctrl+D, Shift takes the window</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AFTER YOU LOG IN</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A desktop that says hello, and remembers</a:t>
            </a:r>
            <a:endParaRPr lang="en-US" sz="3000" dirty="0"/>
          </a:p>
        </p:txBody>
      </p:sp>
      <p:pic>
        <p:nvPicPr>
          <p:cNvPr id="5" name="welcome-47" descr="/tmp/tmp.U4D0us9tfa/img/welcome.jpg">    </p:cNvPr>
          <p:cNvPicPr>
            <a:picLocks noChangeAspect="1"/>
          </p:cNvPicPr>
          <p:nvPr/>
        </p:nvPicPr>
        <p:blipFill>
          <a:blip r:embed="rId1"/>
          <a:stretch>
            <a:fillRect/>
          </a:stretch>
        </p:blipFill>
        <p:spPr>
          <a:xfrm>
            <a:off x="457200" y="1280160"/>
            <a:ext cx="5120640" cy="2880360"/>
          </a:xfrm>
          <a:prstGeom prst="rect">
            <a:avLst/>
          </a:prstGeom>
          <a:effectLst>
            <a:outerShdw sx="100000" sy="100000" kx="0" ky="0" algn="bl" rotWithShape="0" blurRad="127000" dist="38100" dir="5400000">
              <a:srgbClr val="0B1430">
                <a:alpha val="18000"/>
              </a:srgbClr>
            </a:outerShdw>
          </a:effectLst>
        </p:spPr>
      </p:pic>
      <p:sp>
        <p:nvSpPr>
          <p:cNvPr id="6" name="caption-48"/>
          <p:cNvSpPr txBox="1"/>
          <p:nvPr/>
        </p:nvSpPr>
        <p:spPr>
          <a:xfrm>
            <a:off x="457200" y="4251960"/>
            <a:ext cx="5120640" cy="274320"/>
          </a:xfrm>
          <a:prstGeom prst="rect">
            <a:avLst/>
          </a:prstGeom>
          <a:noFill/>
          <a:ln/>
        </p:spPr>
        <p:txBody>
          <a:bodyPr wrap="square" lIns="0" tIns="0" rIns="0" bIns="0" rtlCol="0" anchor="ctr"/>
          <a:lstStyle/>
          <a:p>
            <a:pPr indent="0" marL="0">
              <a:buNone/>
            </a:pPr>
            <a:r>
              <a:rPr lang="en-US" sz="1000" i="1" dirty="0">
                <a:solidFill>
                  <a:schemeClr val="tx2"/>
                </a:solidFill>
              </a:rPr>
              <a:t>The greeting lands with the light, your tasks underneath</a:t>
            </a:r>
            <a:endParaRPr lang="en-US" sz="1000" dirty="0"/>
          </a:p>
        </p:txBody>
      </p:sp>
      <p:sp>
        <p:nvSpPr>
          <p:cNvPr id="7" name="dot-49"/>
          <p:cNvSpPr/>
          <p:nvPr/>
        </p:nvSpPr>
        <p:spPr>
          <a:xfrm>
            <a:off x="5852160" y="1344168"/>
            <a:ext cx="384048" cy="384048"/>
          </a:xfrm>
          <a:prstGeom prst="ellipse">
            <a:avLst/>
          </a:prstGeom>
          <a:solidFill>
            <a:schemeClr val="accent1"/>
          </a:solidFill>
          <a:ln/>
        </p:spPr>
      </p:sp>
      <p:pic>
        <p:nvPicPr>
          <p:cNvPr id="8" name="icon-50" descr="/tmp/tmp.U4D0us9tfa/icons/weather-clear-night.png">    </p:cNvPr>
          <p:cNvPicPr>
            <a:picLocks noChangeAspect="1"/>
          </p:cNvPicPr>
          <p:nvPr/>
        </p:nvPicPr>
        <p:blipFill>
          <a:blip r:embed="rId2"/>
          <a:stretch>
            <a:fillRect/>
          </a:stretch>
        </p:blipFill>
        <p:spPr>
          <a:xfrm>
            <a:off x="5943600" y="1435608"/>
            <a:ext cx="201168" cy="201168"/>
          </a:xfrm>
          <a:prstGeom prst="rect">
            <a:avLst/>
          </a:prstGeom>
        </p:spPr>
      </p:pic>
      <p:sp>
        <p:nvSpPr>
          <p:cNvPr id="9" name="row-51"/>
          <p:cNvSpPr txBox="1"/>
          <p:nvPr/>
        </p:nvSpPr>
        <p:spPr>
          <a:xfrm>
            <a:off x="6355080" y="128930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Light on time</a:t>
            </a:r>
            <a:endParaRPr lang="en-US" sz="1400" dirty="0"/>
          </a:p>
          <a:p>
            <a:pPr indent="0" marL="0">
              <a:spcAft>
                <a:spcPts val="100"/>
              </a:spcAft>
              <a:buNone/>
            </a:pPr>
            <a:r>
              <a:rPr lang="en-US" sz="1400" dirty="0">
                <a:solidFill>
                  <a:schemeClr val="tx2"/>
                </a:solidFill>
              </a:rPr>
              <a:t>plays once the desktop is ready</a:t>
            </a:r>
            <a:endParaRPr lang="en-US" sz="1400" dirty="0"/>
          </a:p>
        </p:txBody>
      </p:sp>
      <p:sp>
        <p:nvSpPr>
          <p:cNvPr id="10" name="dot-52"/>
          <p:cNvSpPr/>
          <p:nvPr/>
        </p:nvSpPr>
        <p:spPr>
          <a:xfrm>
            <a:off x="5852160" y="2121408"/>
            <a:ext cx="384048" cy="384048"/>
          </a:xfrm>
          <a:prstGeom prst="ellipse">
            <a:avLst/>
          </a:prstGeom>
          <a:solidFill>
            <a:schemeClr val="accent1"/>
          </a:solidFill>
          <a:ln/>
        </p:spPr>
      </p:sp>
      <p:pic>
        <p:nvPicPr>
          <p:cNvPr id="11" name="icon-53" descr="/tmp/tmp.U4D0us9tfa/icons/view-pin.png">    </p:cNvPr>
          <p:cNvPicPr>
            <a:picLocks noChangeAspect="1"/>
          </p:cNvPicPr>
          <p:nvPr/>
        </p:nvPicPr>
        <p:blipFill>
          <a:blip r:embed="rId3"/>
          <a:stretch>
            <a:fillRect/>
          </a:stretch>
        </p:blipFill>
        <p:spPr>
          <a:xfrm>
            <a:off x="5943600" y="2212848"/>
            <a:ext cx="201168" cy="201168"/>
          </a:xfrm>
          <a:prstGeom prst="rect">
            <a:avLst/>
          </a:prstGeom>
        </p:spPr>
      </p:pic>
      <p:sp>
        <p:nvSpPr>
          <p:cNvPr id="12" name="row-54"/>
          <p:cNvSpPr txBox="1"/>
          <p:nvPr/>
        </p:nvSpPr>
        <p:spPr>
          <a:xfrm>
            <a:off x="6355080" y="206654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What's waiting</a:t>
            </a:r>
            <a:endParaRPr lang="en-US" sz="1400" dirty="0"/>
          </a:p>
          <a:p>
            <a:pPr indent="0" marL="0">
              <a:spcAft>
                <a:spcPts val="100"/>
              </a:spcAft>
              <a:buNone/>
            </a:pPr>
            <a:r>
              <a:rPr lang="en-US" sz="1400" dirty="0">
                <a:solidFill>
                  <a:schemeClr val="tx2"/>
                </a:solidFill>
              </a:rPr>
              <a:t>pinned tasks and today's next reminder</a:t>
            </a:r>
            <a:endParaRPr lang="en-US" sz="1400" dirty="0"/>
          </a:p>
        </p:txBody>
      </p:sp>
      <p:sp>
        <p:nvSpPr>
          <p:cNvPr id="13" name="dot-55"/>
          <p:cNvSpPr/>
          <p:nvPr/>
        </p:nvSpPr>
        <p:spPr>
          <a:xfrm>
            <a:off x="5852160" y="2898648"/>
            <a:ext cx="384048" cy="384048"/>
          </a:xfrm>
          <a:prstGeom prst="ellipse">
            <a:avLst/>
          </a:prstGeom>
          <a:solidFill>
            <a:schemeClr val="accent1"/>
          </a:solidFill>
          <a:ln/>
        </p:spPr>
      </p:sp>
      <p:pic>
        <p:nvPicPr>
          <p:cNvPr id="14" name="icon-56" descr="/tmp/tmp.U4D0us9tfa/icons/face-smile.png">    </p:cNvPr>
          <p:cNvPicPr>
            <a:picLocks noChangeAspect="1"/>
          </p:cNvPicPr>
          <p:nvPr/>
        </p:nvPicPr>
        <p:blipFill>
          <a:blip r:embed="rId4"/>
          <a:stretch>
            <a:fillRect/>
          </a:stretch>
        </p:blipFill>
        <p:spPr>
          <a:xfrm>
            <a:off x="5943600" y="2990088"/>
            <a:ext cx="201168" cy="201168"/>
          </a:xfrm>
          <a:prstGeom prst="rect">
            <a:avLst/>
          </a:prstGeom>
        </p:spPr>
      </p:pic>
      <p:sp>
        <p:nvSpPr>
          <p:cNvPr id="15" name="row-57"/>
          <p:cNvSpPr txBox="1"/>
          <p:nvPr/>
        </p:nvSpPr>
        <p:spPr>
          <a:xfrm>
            <a:off x="6355080" y="284378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Never the same twice</a:t>
            </a:r>
            <a:endParaRPr lang="en-US" sz="1400" dirty="0"/>
          </a:p>
          <a:p>
            <a:pPr indent="0" marL="0">
              <a:spcAft>
                <a:spcPts val="100"/>
              </a:spcAft>
              <a:buNone/>
            </a:pPr>
            <a:r>
              <a:rPr lang="en-US" sz="1400" dirty="0">
                <a:solidFill>
                  <a:schemeClr val="tx2"/>
                </a:solidFill>
              </a:rPr>
              <a:t>morning, Friday, birthday, or your lines</a:t>
            </a:r>
            <a:endParaRPr lang="en-US" sz="1400" dirty="0"/>
          </a:p>
        </p:txBody>
      </p:sp>
      <p:sp>
        <p:nvSpPr>
          <p:cNvPr id="16" name="dot-58"/>
          <p:cNvSpPr/>
          <p:nvPr/>
        </p:nvSpPr>
        <p:spPr>
          <a:xfrm>
            <a:off x="5852160" y="3675888"/>
            <a:ext cx="384048" cy="384048"/>
          </a:xfrm>
          <a:prstGeom prst="ellipse">
            <a:avLst/>
          </a:prstGeom>
          <a:solidFill>
            <a:schemeClr val="accent1"/>
          </a:solidFill>
          <a:ln/>
        </p:spPr>
      </p:sp>
      <p:pic>
        <p:nvPicPr>
          <p:cNvPr id="17" name="icon-59" descr="/tmp/tmp.U4D0us9tfa/icons/preferences-color.png">    </p:cNvPr>
          <p:cNvPicPr>
            <a:picLocks noChangeAspect="1"/>
          </p:cNvPicPr>
          <p:nvPr/>
        </p:nvPicPr>
        <p:blipFill>
          <a:blip r:embed="rId5"/>
          <a:stretch>
            <a:fillRect/>
          </a:stretch>
        </p:blipFill>
        <p:spPr>
          <a:xfrm>
            <a:off x="5943600" y="3767328"/>
            <a:ext cx="201168" cy="201168"/>
          </a:xfrm>
          <a:prstGeom prst="rect">
            <a:avLst/>
          </a:prstGeom>
        </p:spPr>
      </p:pic>
      <p:sp>
        <p:nvSpPr>
          <p:cNvPr id="18" name="row-60"/>
          <p:cNvSpPr txBox="1"/>
          <p:nvPr/>
        </p:nvSpPr>
        <p:spPr>
          <a:xfrm>
            <a:off x="6355080" y="3621024"/>
            <a:ext cx="23317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Your colours</a:t>
            </a:r>
            <a:endParaRPr lang="en-US" sz="1400" dirty="0"/>
          </a:p>
          <a:p>
            <a:pPr indent="0" marL="0">
              <a:spcAft>
                <a:spcPts val="100"/>
              </a:spcAft>
              <a:buNone/>
            </a:pPr>
            <a:r>
              <a:rPr lang="en-US" sz="1400" dirty="0">
                <a:solidFill>
                  <a:schemeClr val="tx2"/>
                </a:solidFill>
              </a:rPr>
              <a:t>taken from your wallpaper</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SUPER + N</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MK Notes: write, link, draw, find</a:t>
            </a:r>
            <a:endParaRPr lang="en-US" sz="3000" dirty="0"/>
          </a:p>
        </p:txBody>
      </p:sp>
      <p:pic>
        <p:nvPicPr>
          <p:cNvPr id="5" name="notes-split-61" descr="/tmp/tmp.U4D0us9tfa/img/notes-split.jpg">    </p:cNvPr>
          <p:cNvPicPr>
            <a:picLocks noChangeAspect="1"/>
          </p:cNvPicPr>
          <p:nvPr/>
        </p:nvPicPr>
        <p:blipFill>
          <a:blip r:embed="rId1"/>
          <a:stretch>
            <a:fillRect/>
          </a:stretch>
        </p:blipFill>
        <p:spPr>
          <a:xfrm>
            <a:off x="457200" y="1280160"/>
            <a:ext cx="4754880" cy="2674620"/>
          </a:xfrm>
          <a:prstGeom prst="rect">
            <a:avLst/>
          </a:prstGeom>
          <a:effectLst>
            <a:outerShdw sx="100000" sy="100000" kx="0" ky="0" algn="bl" rotWithShape="0" blurRad="127000" dist="38100" dir="5400000">
              <a:srgbClr val="0B1430">
                <a:alpha val="18000"/>
              </a:srgbClr>
            </a:outerShdw>
          </a:effectLst>
        </p:spPr>
      </p:pic>
      <p:pic>
        <p:nvPicPr>
          <p:cNvPr id="6" name="phone" descr="/tmp/tmp.U4D0us9tfa/img/phone-note.jpg">    </p:cNvPr>
          <p:cNvPicPr>
            <a:picLocks noChangeAspect="1"/>
          </p:cNvPicPr>
          <p:nvPr/>
        </p:nvPicPr>
        <p:blipFill>
          <a:blip r:embed="rId2"/>
          <a:stretch>
            <a:fillRect/>
          </a:stretch>
        </p:blipFill>
        <p:spPr>
          <a:xfrm>
            <a:off x="5440680" y="1280160"/>
            <a:ext cx="1325880" cy="2679192"/>
          </a:xfrm>
          <a:prstGeom prst="rect">
            <a:avLst/>
          </a:prstGeom>
          <a:effectLst>
            <a:outerShdw sx="100000" sy="100000" kx="0" ky="0" algn="bl" rotWithShape="0" blurRad="127000" dist="38100" dir="5400000">
              <a:srgbClr val="0B1430">
                <a:alpha val="18000"/>
              </a:srgbClr>
            </a:outerShdw>
          </a:effectLst>
        </p:spPr>
      </p:pic>
      <p:sp>
        <p:nvSpPr>
          <p:cNvPr id="7" name="caption-62"/>
          <p:cNvSpPr txBox="1"/>
          <p:nvPr/>
        </p:nvSpPr>
        <p:spPr>
          <a:xfrm>
            <a:off x="457200" y="4069080"/>
            <a:ext cx="6309360" cy="274320"/>
          </a:xfrm>
          <a:prstGeom prst="rect">
            <a:avLst/>
          </a:prstGeom>
          <a:noFill/>
          <a:ln/>
        </p:spPr>
        <p:txBody>
          <a:bodyPr wrap="square" lIns="0" tIns="0" rIns="0" bIns="0" rtlCol="0" anchor="ctr"/>
          <a:lstStyle/>
          <a:p>
            <a:pPr indent="0" marL="0">
              <a:buNone/>
            </a:pPr>
            <a:r>
              <a:rPr lang="en-US" sz="1000" i="1" dirty="0">
                <a:solidFill>
                  <a:schemeClr val="tx2"/>
                </a:solidFill>
              </a:rPr>
              <a:t>Live preview on the laptop, the same notes on your phone</a:t>
            </a:r>
            <a:endParaRPr lang="en-US" sz="1000" dirty="0"/>
          </a:p>
        </p:txBody>
      </p:sp>
      <p:sp>
        <p:nvSpPr>
          <p:cNvPr id="8" name="dot-63"/>
          <p:cNvSpPr/>
          <p:nvPr/>
        </p:nvSpPr>
        <p:spPr>
          <a:xfrm>
            <a:off x="6949440" y="1344168"/>
            <a:ext cx="384048" cy="384048"/>
          </a:xfrm>
          <a:prstGeom prst="ellipse">
            <a:avLst/>
          </a:prstGeom>
          <a:solidFill>
            <a:schemeClr val="accent1"/>
          </a:solidFill>
          <a:ln/>
        </p:spPr>
      </p:sp>
      <p:pic>
        <p:nvPicPr>
          <p:cNvPr id="9" name="icon-64" descr="/tmp/tmp.U4D0us9tfa/icons/x-office-document.png">    </p:cNvPr>
          <p:cNvPicPr>
            <a:picLocks noChangeAspect="1"/>
          </p:cNvPicPr>
          <p:nvPr/>
        </p:nvPicPr>
        <p:blipFill>
          <a:blip r:embed="rId3"/>
          <a:stretch>
            <a:fillRect/>
          </a:stretch>
        </p:blipFill>
        <p:spPr>
          <a:xfrm>
            <a:off x="7040880" y="1435608"/>
            <a:ext cx="201168" cy="201168"/>
          </a:xfrm>
          <a:prstGeom prst="rect">
            <a:avLst/>
          </a:prstGeom>
        </p:spPr>
      </p:pic>
      <p:sp>
        <p:nvSpPr>
          <p:cNvPr id="10" name="row-65"/>
          <p:cNvSpPr txBox="1"/>
          <p:nvPr/>
        </p:nvSpPr>
        <p:spPr>
          <a:xfrm>
            <a:off x="7452360" y="1289304"/>
            <a:ext cx="132588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Your files</a:t>
            </a:r>
            <a:endParaRPr lang="en-US" sz="1400" dirty="0"/>
          </a:p>
          <a:p>
            <a:pPr indent="0" marL="0">
              <a:spcAft>
                <a:spcPts val="100"/>
              </a:spcAft>
              <a:buNone/>
            </a:pPr>
            <a:r>
              <a:rPr lang="en-US" sz="1400" dirty="0">
                <a:solidFill>
                  <a:schemeClr val="tx2"/>
                </a:solidFill>
              </a:rPr>
              <a:t>plain Markdown you own</a:t>
            </a:r>
            <a:endParaRPr lang="en-US" sz="1400" dirty="0"/>
          </a:p>
        </p:txBody>
      </p:sp>
      <p:sp>
        <p:nvSpPr>
          <p:cNvPr id="11" name="dot-66"/>
          <p:cNvSpPr/>
          <p:nvPr/>
        </p:nvSpPr>
        <p:spPr>
          <a:xfrm>
            <a:off x="6949440" y="2075688"/>
            <a:ext cx="384048" cy="384048"/>
          </a:xfrm>
          <a:prstGeom prst="ellipse">
            <a:avLst/>
          </a:prstGeom>
          <a:solidFill>
            <a:schemeClr val="accent1"/>
          </a:solidFill>
          <a:ln/>
        </p:spPr>
      </p:sp>
      <p:pic>
        <p:nvPicPr>
          <p:cNvPr id="12" name="icon-67" descr="/tmp/tmp.U4D0us9tfa/icons/network-workgroup.png">    </p:cNvPr>
          <p:cNvPicPr>
            <a:picLocks noChangeAspect="1"/>
          </p:cNvPicPr>
          <p:nvPr/>
        </p:nvPicPr>
        <p:blipFill>
          <a:blip r:embed="rId4"/>
          <a:stretch>
            <a:fillRect/>
          </a:stretch>
        </p:blipFill>
        <p:spPr>
          <a:xfrm>
            <a:off x="7040880" y="2167128"/>
            <a:ext cx="201168" cy="201168"/>
          </a:xfrm>
          <a:prstGeom prst="rect">
            <a:avLst/>
          </a:prstGeom>
        </p:spPr>
      </p:pic>
      <p:sp>
        <p:nvSpPr>
          <p:cNvPr id="13" name="row-68"/>
          <p:cNvSpPr txBox="1"/>
          <p:nvPr/>
        </p:nvSpPr>
        <p:spPr>
          <a:xfrm>
            <a:off x="7452360" y="2020824"/>
            <a:ext cx="132588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Linked</a:t>
            </a:r>
            <a:endParaRPr lang="en-US" sz="1400" dirty="0"/>
          </a:p>
          <a:p>
            <a:pPr indent="0" marL="0">
              <a:spcAft>
                <a:spcPts val="100"/>
              </a:spcAft>
              <a:buNone/>
            </a:pPr>
            <a:r>
              <a:rPr lang="en-US" sz="1400" dirty="0">
                <a:solidFill>
                  <a:schemeClr val="tx2"/>
                </a:solidFill>
              </a:rPr>
              <a:t>links, backlinks, graph</a:t>
            </a:r>
            <a:endParaRPr lang="en-US" sz="1400" dirty="0"/>
          </a:p>
        </p:txBody>
      </p:sp>
      <p:sp>
        <p:nvSpPr>
          <p:cNvPr id="14" name="dot-69"/>
          <p:cNvSpPr/>
          <p:nvPr/>
        </p:nvSpPr>
        <p:spPr>
          <a:xfrm>
            <a:off x="6949440" y="2807208"/>
            <a:ext cx="384048" cy="384048"/>
          </a:xfrm>
          <a:prstGeom prst="ellipse">
            <a:avLst/>
          </a:prstGeom>
          <a:solidFill>
            <a:schemeClr val="accent1"/>
          </a:solidFill>
          <a:ln/>
        </p:spPr>
      </p:sp>
      <p:pic>
        <p:nvPicPr>
          <p:cNvPr id="15" name="icon-70" descr="/tmp/tmp.U4D0us9tfa/icons/applications-graphics.png">    </p:cNvPr>
          <p:cNvPicPr>
            <a:picLocks noChangeAspect="1"/>
          </p:cNvPicPr>
          <p:nvPr/>
        </p:nvPicPr>
        <p:blipFill>
          <a:blip r:embed="rId5"/>
          <a:stretch>
            <a:fillRect/>
          </a:stretch>
        </p:blipFill>
        <p:spPr>
          <a:xfrm>
            <a:off x="7040880" y="2898648"/>
            <a:ext cx="201168" cy="201168"/>
          </a:xfrm>
          <a:prstGeom prst="rect">
            <a:avLst/>
          </a:prstGeom>
        </p:spPr>
      </p:pic>
      <p:sp>
        <p:nvSpPr>
          <p:cNvPr id="16" name="row-71"/>
          <p:cNvSpPr txBox="1"/>
          <p:nvPr/>
        </p:nvSpPr>
        <p:spPr>
          <a:xfrm>
            <a:off x="7452360" y="2752344"/>
            <a:ext cx="132588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Drawn</a:t>
            </a:r>
            <a:endParaRPr lang="en-US" sz="1400" dirty="0"/>
          </a:p>
          <a:p>
            <a:pPr indent="0" marL="0">
              <a:spcAft>
                <a:spcPts val="100"/>
              </a:spcAft>
              <a:buNone/>
            </a:pPr>
            <a:r>
              <a:rPr lang="en-US" sz="1400" dirty="0">
                <a:solidFill>
                  <a:schemeClr val="tx2"/>
                </a:solidFill>
              </a:rPr>
              <a:t>pen with pressure</a:t>
            </a:r>
            <a:endParaRPr lang="en-US" sz="1400" dirty="0"/>
          </a:p>
        </p:txBody>
      </p:sp>
      <p:sp>
        <p:nvSpPr>
          <p:cNvPr id="17" name="dot-72"/>
          <p:cNvSpPr/>
          <p:nvPr/>
        </p:nvSpPr>
        <p:spPr>
          <a:xfrm>
            <a:off x="6949440" y="3538728"/>
            <a:ext cx="384048" cy="384048"/>
          </a:xfrm>
          <a:prstGeom prst="ellipse">
            <a:avLst/>
          </a:prstGeom>
          <a:solidFill>
            <a:schemeClr val="accent1"/>
          </a:solidFill>
          <a:ln/>
        </p:spPr>
      </p:sp>
      <p:pic>
        <p:nvPicPr>
          <p:cNvPr id="18" name="icon-73" descr="/tmp/tmp.U4D0us9tfa/icons/edit-paste.png">    </p:cNvPr>
          <p:cNvPicPr>
            <a:picLocks noChangeAspect="1"/>
          </p:cNvPicPr>
          <p:nvPr/>
        </p:nvPicPr>
        <p:blipFill>
          <a:blip r:embed="rId6"/>
          <a:stretch>
            <a:fillRect/>
          </a:stretch>
        </p:blipFill>
        <p:spPr>
          <a:xfrm>
            <a:off x="7040880" y="3630168"/>
            <a:ext cx="201168" cy="201168"/>
          </a:xfrm>
          <a:prstGeom prst="rect">
            <a:avLst/>
          </a:prstGeom>
        </p:spPr>
      </p:pic>
      <p:sp>
        <p:nvSpPr>
          <p:cNvPr id="19" name="row-74"/>
          <p:cNvSpPr txBox="1"/>
          <p:nvPr/>
        </p:nvSpPr>
        <p:spPr>
          <a:xfrm>
            <a:off x="7452360" y="3483864"/>
            <a:ext cx="132588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Pasted</a:t>
            </a:r>
            <a:endParaRPr lang="en-US" sz="1400" dirty="0"/>
          </a:p>
          <a:p>
            <a:pPr indent="0" marL="0">
              <a:spcAft>
                <a:spcPts val="100"/>
              </a:spcAft>
              <a:buNone/>
            </a:pPr>
            <a:r>
              <a:rPr lang="en-US" sz="1400" dirty="0">
                <a:solidFill>
                  <a:schemeClr val="tx2"/>
                </a:solidFill>
              </a:rPr>
              <a:t>screenshots straight in</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MK NOTES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The features you'd normally pay for</a:t>
            </a:r>
            <a:endParaRPr lang="en-US" sz="3000" dirty="0"/>
          </a:p>
        </p:txBody>
      </p:sp>
      <p:sp>
        <p:nvSpPr>
          <p:cNvPr id="5" name="card-75"/>
          <p:cNvSpPr/>
          <p:nvPr/>
        </p:nvSpPr>
        <p:spPr>
          <a:xfrm>
            <a:off x="457200" y="1280160"/>
            <a:ext cx="1920240" cy="1554480"/>
          </a:xfrm>
          <a:prstGeom prst="roundRect">
            <a:avLst>
              <a:gd name="adj" fmla="val 7059"/>
            </a:avLst>
          </a:prstGeom>
          <a:solidFill>
            <a:schemeClr val="bg2"/>
          </a:solidFill>
          <a:ln/>
        </p:spPr>
      </p:sp>
      <p:sp>
        <p:nvSpPr>
          <p:cNvPr id="6" name="dot-76"/>
          <p:cNvSpPr/>
          <p:nvPr/>
        </p:nvSpPr>
        <p:spPr>
          <a:xfrm>
            <a:off x="640080" y="1463040"/>
            <a:ext cx="384048" cy="384048"/>
          </a:xfrm>
          <a:prstGeom prst="ellipse">
            <a:avLst/>
          </a:prstGeom>
          <a:solidFill>
            <a:schemeClr val="accent1"/>
          </a:solidFill>
          <a:ln/>
        </p:spPr>
      </p:sp>
      <p:pic>
        <p:nvPicPr>
          <p:cNvPr id="7" name="icon-77" descr="/tmp/tmp.U4D0us9tfa/icons/emblem-system.png">    </p:cNvPr>
          <p:cNvPicPr>
            <a:picLocks noChangeAspect="1"/>
          </p:cNvPicPr>
          <p:nvPr/>
        </p:nvPicPr>
        <p:blipFill>
          <a:blip r:embed="rId1"/>
          <a:stretch>
            <a:fillRect/>
          </a:stretch>
        </p:blipFill>
        <p:spPr>
          <a:xfrm>
            <a:off x="731520" y="1554480"/>
            <a:ext cx="201168" cy="201168"/>
          </a:xfrm>
          <a:prstGeom prst="rect">
            <a:avLst/>
          </a:prstGeom>
        </p:spPr>
      </p:pic>
      <p:sp>
        <p:nvSpPr>
          <p:cNvPr id="8" name="cardtext-78"/>
          <p:cNvSpPr txBox="1"/>
          <p:nvPr/>
        </p:nvSpPr>
        <p:spPr>
          <a:xfrm>
            <a:off x="640080" y="193852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Phone sync</a:t>
            </a:r>
            <a:endParaRPr lang="en-US" sz="1500" dirty="0"/>
          </a:p>
          <a:p>
            <a:pPr indent="0" marL="0">
              <a:spcAft>
                <a:spcPts val="300"/>
              </a:spcAft>
              <a:buNone/>
            </a:pPr>
            <a:r>
              <a:rPr lang="en-US" sz="1200" dirty="0">
                <a:solidFill>
                  <a:schemeClr val="tx2"/>
                </a:solidFill>
              </a:rPr>
              <a:t>browser or Android, offline, encrypted</a:t>
            </a:r>
            <a:endParaRPr lang="en-US" sz="1500" dirty="0"/>
          </a:p>
        </p:txBody>
      </p:sp>
      <p:sp>
        <p:nvSpPr>
          <p:cNvPr id="9" name="card-79"/>
          <p:cNvSpPr/>
          <p:nvPr/>
        </p:nvSpPr>
        <p:spPr>
          <a:xfrm>
            <a:off x="2542032" y="1280160"/>
            <a:ext cx="1920240" cy="1554480"/>
          </a:xfrm>
          <a:prstGeom prst="roundRect">
            <a:avLst>
              <a:gd name="adj" fmla="val 7059"/>
            </a:avLst>
          </a:prstGeom>
          <a:solidFill>
            <a:schemeClr val="bg2"/>
          </a:solidFill>
          <a:ln/>
        </p:spPr>
      </p:sp>
      <p:sp>
        <p:nvSpPr>
          <p:cNvPr id="10" name="dot-80"/>
          <p:cNvSpPr/>
          <p:nvPr/>
        </p:nvSpPr>
        <p:spPr>
          <a:xfrm>
            <a:off x="2724912" y="1463040"/>
            <a:ext cx="384048" cy="384048"/>
          </a:xfrm>
          <a:prstGeom prst="ellipse">
            <a:avLst/>
          </a:prstGeom>
          <a:solidFill>
            <a:schemeClr val="accent1"/>
          </a:solidFill>
          <a:ln/>
        </p:spPr>
      </p:sp>
      <p:pic>
        <p:nvPicPr>
          <p:cNvPr id="11" name="icon-81" descr="/tmp/tmp.U4D0us9tfa/icons/x-office-document.png">    </p:cNvPr>
          <p:cNvPicPr>
            <a:picLocks noChangeAspect="1"/>
          </p:cNvPicPr>
          <p:nvPr/>
        </p:nvPicPr>
        <p:blipFill>
          <a:blip r:embed="rId2"/>
          <a:stretch>
            <a:fillRect/>
          </a:stretch>
        </p:blipFill>
        <p:spPr>
          <a:xfrm>
            <a:off x="2816352" y="1554480"/>
            <a:ext cx="201168" cy="201168"/>
          </a:xfrm>
          <a:prstGeom prst="rect">
            <a:avLst/>
          </a:prstGeom>
        </p:spPr>
      </p:pic>
      <p:sp>
        <p:nvSpPr>
          <p:cNvPr id="12" name="cardtext-82"/>
          <p:cNvSpPr txBox="1"/>
          <p:nvPr/>
        </p:nvSpPr>
        <p:spPr>
          <a:xfrm>
            <a:off x="2724912" y="193852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PDF export</a:t>
            </a:r>
            <a:endParaRPr lang="en-US" sz="1500" dirty="0"/>
          </a:p>
          <a:p>
            <a:pPr indent="0" marL="0">
              <a:spcAft>
                <a:spcPts val="300"/>
              </a:spcAft>
              <a:buNone/>
            </a:pPr>
            <a:r>
              <a:rPr lang="en-US" sz="1200" dirty="0">
                <a:solidFill>
                  <a:schemeClr val="tx2"/>
                </a:solidFill>
              </a:rPr>
              <a:t>one click, with pictures</a:t>
            </a:r>
            <a:endParaRPr lang="en-US" sz="1500" dirty="0"/>
          </a:p>
        </p:txBody>
      </p:sp>
      <p:sp>
        <p:nvSpPr>
          <p:cNvPr id="13" name="card-83"/>
          <p:cNvSpPr/>
          <p:nvPr/>
        </p:nvSpPr>
        <p:spPr>
          <a:xfrm>
            <a:off x="4626864" y="1280160"/>
            <a:ext cx="1920240" cy="1554480"/>
          </a:xfrm>
          <a:prstGeom prst="roundRect">
            <a:avLst>
              <a:gd name="adj" fmla="val 7059"/>
            </a:avLst>
          </a:prstGeom>
          <a:solidFill>
            <a:schemeClr val="bg2"/>
          </a:solidFill>
          <a:ln/>
        </p:spPr>
      </p:sp>
      <p:sp>
        <p:nvSpPr>
          <p:cNvPr id="14" name="dot-84"/>
          <p:cNvSpPr/>
          <p:nvPr/>
        </p:nvSpPr>
        <p:spPr>
          <a:xfrm>
            <a:off x="4809744" y="1463040"/>
            <a:ext cx="384048" cy="384048"/>
          </a:xfrm>
          <a:prstGeom prst="ellipse">
            <a:avLst/>
          </a:prstGeom>
          <a:solidFill>
            <a:schemeClr val="accent1"/>
          </a:solidFill>
          <a:ln/>
        </p:spPr>
      </p:sp>
      <p:pic>
        <p:nvPicPr>
          <p:cNvPr id="15" name="icon-85" descr="/tmp/tmp.U4D0us9tfa/icons/network-workgroup.png">    </p:cNvPr>
          <p:cNvPicPr>
            <a:picLocks noChangeAspect="1"/>
          </p:cNvPicPr>
          <p:nvPr/>
        </p:nvPicPr>
        <p:blipFill>
          <a:blip r:embed="rId3"/>
          <a:stretch>
            <a:fillRect/>
          </a:stretch>
        </p:blipFill>
        <p:spPr>
          <a:xfrm>
            <a:off x="4901184" y="1554480"/>
            <a:ext cx="201168" cy="201168"/>
          </a:xfrm>
          <a:prstGeom prst="rect">
            <a:avLst/>
          </a:prstGeom>
        </p:spPr>
      </p:pic>
      <p:sp>
        <p:nvSpPr>
          <p:cNvPr id="16" name="cardtext-86"/>
          <p:cNvSpPr txBox="1"/>
          <p:nvPr/>
        </p:nvSpPr>
        <p:spPr>
          <a:xfrm>
            <a:off x="4809744" y="193852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Your website</a:t>
            </a:r>
            <a:endParaRPr lang="en-US" sz="1500" dirty="0"/>
          </a:p>
          <a:p>
            <a:pPr indent="0" marL="0">
              <a:spcAft>
                <a:spcPts val="300"/>
              </a:spcAft>
              <a:buNone/>
            </a:pPr>
            <a:r>
              <a:rPr lang="en-US" sz="1200" dirty="0">
                <a:solidFill>
                  <a:schemeClr val="tx2"/>
                </a:solidFill>
              </a:rPr>
              <a:t>publish notes as web pages</a:t>
            </a:r>
            <a:endParaRPr lang="en-US" sz="1500" dirty="0"/>
          </a:p>
        </p:txBody>
      </p:sp>
      <p:sp>
        <p:nvSpPr>
          <p:cNvPr id="17" name="card-87"/>
          <p:cNvSpPr/>
          <p:nvPr/>
        </p:nvSpPr>
        <p:spPr>
          <a:xfrm>
            <a:off x="6711696" y="1280160"/>
            <a:ext cx="1920240" cy="1554480"/>
          </a:xfrm>
          <a:prstGeom prst="roundRect">
            <a:avLst>
              <a:gd name="adj" fmla="val 7059"/>
            </a:avLst>
          </a:prstGeom>
          <a:solidFill>
            <a:schemeClr val="bg2"/>
          </a:solidFill>
          <a:ln/>
        </p:spPr>
      </p:sp>
      <p:sp>
        <p:nvSpPr>
          <p:cNvPr id="18" name="dot-88"/>
          <p:cNvSpPr/>
          <p:nvPr/>
        </p:nvSpPr>
        <p:spPr>
          <a:xfrm>
            <a:off x="6894576" y="1463040"/>
            <a:ext cx="384048" cy="384048"/>
          </a:xfrm>
          <a:prstGeom prst="ellipse">
            <a:avLst/>
          </a:prstGeom>
          <a:solidFill>
            <a:schemeClr val="accent1"/>
          </a:solidFill>
          <a:ln/>
        </p:spPr>
      </p:sp>
      <p:pic>
        <p:nvPicPr>
          <p:cNvPr id="19" name="icon-89" descr="/tmp/tmp.U4D0us9tfa/icons/document-open-recent.png">    </p:cNvPr>
          <p:cNvPicPr>
            <a:picLocks noChangeAspect="1"/>
          </p:cNvPicPr>
          <p:nvPr/>
        </p:nvPicPr>
        <p:blipFill>
          <a:blip r:embed="rId4"/>
          <a:stretch>
            <a:fillRect/>
          </a:stretch>
        </p:blipFill>
        <p:spPr>
          <a:xfrm>
            <a:off x="6986016" y="1554480"/>
            <a:ext cx="201168" cy="201168"/>
          </a:xfrm>
          <a:prstGeom prst="rect">
            <a:avLst/>
          </a:prstGeom>
        </p:spPr>
      </p:pic>
      <p:sp>
        <p:nvSpPr>
          <p:cNvPr id="20" name="cardtext-90"/>
          <p:cNvSpPr txBox="1"/>
          <p:nvPr/>
        </p:nvSpPr>
        <p:spPr>
          <a:xfrm>
            <a:off x="6894576" y="193852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Version history</a:t>
            </a:r>
            <a:endParaRPr lang="en-US" sz="1500" dirty="0"/>
          </a:p>
          <a:p>
            <a:pPr indent="0" marL="0">
              <a:spcAft>
                <a:spcPts val="300"/>
              </a:spcAft>
              <a:buNone/>
            </a:pPr>
            <a:r>
              <a:rPr lang="en-US" sz="1200" dirty="0">
                <a:solidFill>
                  <a:schemeClr val="tx2"/>
                </a:solidFill>
              </a:rPr>
              <a:t>how a note looked this morning</a:t>
            </a:r>
            <a:endParaRPr lang="en-US" sz="1500" dirty="0"/>
          </a:p>
        </p:txBody>
      </p:sp>
      <p:sp>
        <p:nvSpPr>
          <p:cNvPr id="21" name="card-91"/>
          <p:cNvSpPr/>
          <p:nvPr/>
        </p:nvSpPr>
        <p:spPr>
          <a:xfrm>
            <a:off x="457200" y="2971800"/>
            <a:ext cx="1920240" cy="1554480"/>
          </a:xfrm>
          <a:prstGeom prst="roundRect">
            <a:avLst>
              <a:gd name="adj" fmla="val 7059"/>
            </a:avLst>
          </a:prstGeom>
          <a:solidFill>
            <a:schemeClr val="bg2"/>
          </a:solidFill>
          <a:ln/>
        </p:spPr>
      </p:sp>
      <p:sp>
        <p:nvSpPr>
          <p:cNvPr id="22" name="dot-92"/>
          <p:cNvSpPr/>
          <p:nvPr/>
        </p:nvSpPr>
        <p:spPr>
          <a:xfrm>
            <a:off x="640080" y="3154680"/>
            <a:ext cx="384048" cy="384048"/>
          </a:xfrm>
          <a:prstGeom prst="ellipse">
            <a:avLst/>
          </a:prstGeom>
          <a:solidFill>
            <a:schemeClr val="accent1"/>
          </a:solidFill>
          <a:ln/>
        </p:spPr>
      </p:sp>
      <p:pic>
        <p:nvPicPr>
          <p:cNvPr id="23" name="icon-93" descr="/tmp/tmp.U4D0us9tfa/icons/x-office-calendar.png">    </p:cNvPr>
          <p:cNvPicPr>
            <a:picLocks noChangeAspect="1"/>
          </p:cNvPicPr>
          <p:nvPr/>
        </p:nvPicPr>
        <p:blipFill>
          <a:blip r:embed="rId5"/>
          <a:stretch>
            <a:fillRect/>
          </a:stretch>
        </p:blipFill>
        <p:spPr>
          <a:xfrm>
            <a:off x="731520" y="3246120"/>
            <a:ext cx="201168" cy="201168"/>
          </a:xfrm>
          <a:prstGeom prst="rect">
            <a:avLst/>
          </a:prstGeom>
        </p:spPr>
      </p:pic>
      <p:sp>
        <p:nvSpPr>
          <p:cNvPr id="24" name="cardtext-94"/>
          <p:cNvSpPr txBox="1"/>
          <p:nvPr/>
        </p:nvSpPr>
        <p:spPr>
          <a:xfrm>
            <a:off x="640080" y="363016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Daily notes</a:t>
            </a:r>
            <a:endParaRPr lang="en-US" sz="1500" dirty="0"/>
          </a:p>
          <a:p>
            <a:pPr indent="0" marL="0">
              <a:spcAft>
                <a:spcPts val="300"/>
              </a:spcAft>
              <a:buNone/>
            </a:pPr>
            <a:r>
              <a:rPr lang="en-US" sz="1200" dirty="0">
                <a:solidFill>
                  <a:schemeClr val="tx2"/>
                </a:solidFill>
              </a:rPr>
              <a:t>a calendar of the days you wrote</a:t>
            </a:r>
            <a:endParaRPr lang="en-US" sz="1500" dirty="0"/>
          </a:p>
        </p:txBody>
      </p:sp>
      <p:sp>
        <p:nvSpPr>
          <p:cNvPr id="25" name="card-95"/>
          <p:cNvSpPr/>
          <p:nvPr/>
        </p:nvSpPr>
        <p:spPr>
          <a:xfrm>
            <a:off x="2542032" y="2971800"/>
            <a:ext cx="1920240" cy="1554480"/>
          </a:xfrm>
          <a:prstGeom prst="roundRect">
            <a:avLst>
              <a:gd name="adj" fmla="val 7059"/>
            </a:avLst>
          </a:prstGeom>
          <a:solidFill>
            <a:schemeClr val="bg2"/>
          </a:solidFill>
          <a:ln/>
        </p:spPr>
      </p:sp>
      <p:sp>
        <p:nvSpPr>
          <p:cNvPr id="26" name="dot-96"/>
          <p:cNvSpPr/>
          <p:nvPr/>
        </p:nvSpPr>
        <p:spPr>
          <a:xfrm>
            <a:off x="2724912" y="3154680"/>
            <a:ext cx="384048" cy="384048"/>
          </a:xfrm>
          <a:prstGeom prst="ellipse">
            <a:avLst/>
          </a:prstGeom>
          <a:solidFill>
            <a:schemeClr val="accent1"/>
          </a:solidFill>
          <a:ln/>
        </p:spPr>
      </p:sp>
      <p:pic>
        <p:nvPicPr>
          <p:cNvPr id="27" name="icon-97" descr="/tmp/tmp.U4D0us9tfa/icons/checkbox-checked.png">    </p:cNvPr>
          <p:cNvPicPr>
            <a:picLocks noChangeAspect="1"/>
          </p:cNvPicPr>
          <p:nvPr/>
        </p:nvPicPr>
        <p:blipFill>
          <a:blip r:embed="rId6"/>
          <a:stretch>
            <a:fillRect/>
          </a:stretch>
        </p:blipFill>
        <p:spPr>
          <a:xfrm>
            <a:off x="2816352" y="3246120"/>
            <a:ext cx="201168" cy="201168"/>
          </a:xfrm>
          <a:prstGeom prst="rect">
            <a:avLst/>
          </a:prstGeom>
        </p:spPr>
      </p:pic>
      <p:sp>
        <p:nvSpPr>
          <p:cNvPr id="28" name="cardtext-98"/>
          <p:cNvSpPr txBox="1"/>
          <p:nvPr/>
        </p:nvSpPr>
        <p:spPr>
          <a:xfrm>
            <a:off x="2724912" y="363016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Tasks view</a:t>
            </a:r>
            <a:endParaRPr lang="en-US" sz="1500" dirty="0"/>
          </a:p>
          <a:p>
            <a:pPr indent="0" marL="0">
              <a:spcAft>
                <a:spcPts val="300"/>
              </a:spcAft>
              <a:buNone/>
            </a:pPr>
            <a:r>
              <a:rPr lang="en-US" sz="1200" dirty="0">
                <a:solidFill>
                  <a:schemeClr val="tx2"/>
                </a:solidFill>
              </a:rPr>
              <a:t>every checkbox, in one list</a:t>
            </a:r>
            <a:endParaRPr lang="en-US" sz="1500" dirty="0"/>
          </a:p>
        </p:txBody>
      </p:sp>
      <p:sp>
        <p:nvSpPr>
          <p:cNvPr id="29" name="card-99"/>
          <p:cNvSpPr/>
          <p:nvPr/>
        </p:nvSpPr>
        <p:spPr>
          <a:xfrm>
            <a:off x="4626864" y="2971800"/>
            <a:ext cx="1920240" cy="1554480"/>
          </a:xfrm>
          <a:prstGeom prst="roundRect">
            <a:avLst>
              <a:gd name="adj" fmla="val 7059"/>
            </a:avLst>
          </a:prstGeom>
          <a:solidFill>
            <a:schemeClr val="bg2"/>
          </a:solidFill>
          <a:ln/>
        </p:spPr>
      </p:sp>
      <p:sp>
        <p:nvSpPr>
          <p:cNvPr id="30" name="dot-100"/>
          <p:cNvSpPr/>
          <p:nvPr/>
        </p:nvSpPr>
        <p:spPr>
          <a:xfrm>
            <a:off x="4809744" y="3154680"/>
            <a:ext cx="384048" cy="384048"/>
          </a:xfrm>
          <a:prstGeom prst="ellipse">
            <a:avLst/>
          </a:prstGeom>
          <a:solidFill>
            <a:schemeClr val="accent1"/>
          </a:solidFill>
          <a:ln/>
        </p:spPr>
      </p:sp>
      <p:pic>
        <p:nvPicPr>
          <p:cNvPr id="31" name="icon-101" descr="/tmp/tmp.U4D0us9tfa/icons/edit-paste.png">    </p:cNvPr>
          <p:cNvPicPr>
            <a:picLocks noChangeAspect="1"/>
          </p:cNvPicPr>
          <p:nvPr/>
        </p:nvPicPr>
        <p:blipFill>
          <a:blip r:embed="rId7"/>
          <a:stretch>
            <a:fillRect/>
          </a:stretch>
        </p:blipFill>
        <p:spPr>
          <a:xfrm>
            <a:off x="4901184" y="3246120"/>
            <a:ext cx="201168" cy="201168"/>
          </a:xfrm>
          <a:prstGeom prst="rect">
            <a:avLst/>
          </a:prstGeom>
        </p:spPr>
      </p:pic>
      <p:sp>
        <p:nvSpPr>
          <p:cNvPr id="32" name="cardtext-102"/>
          <p:cNvSpPr txBox="1"/>
          <p:nvPr/>
        </p:nvSpPr>
        <p:spPr>
          <a:xfrm>
            <a:off x="4809744" y="363016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Quick capture</a:t>
            </a:r>
            <a:endParaRPr lang="en-US" sz="1500" dirty="0"/>
          </a:p>
          <a:p>
            <a:pPr indent="0" marL="0">
              <a:spcAft>
                <a:spcPts val="300"/>
              </a:spcAft>
              <a:buNone/>
            </a:pPr>
            <a:r>
              <a:rPr lang="en-US" sz="1200" dirty="0">
                <a:solidFill>
                  <a:schemeClr val="tx2"/>
                </a:solidFill>
              </a:rPr>
              <a:t>Super+Ctrl+N from anywhere</a:t>
            </a:r>
            <a:endParaRPr lang="en-US" sz="1500" dirty="0"/>
          </a:p>
        </p:txBody>
      </p:sp>
      <p:sp>
        <p:nvSpPr>
          <p:cNvPr id="33" name="card-103"/>
          <p:cNvSpPr/>
          <p:nvPr/>
        </p:nvSpPr>
        <p:spPr>
          <a:xfrm>
            <a:off x="6711696" y="2971800"/>
            <a:ext cx="1920240" cy="1554480"/>
          </a:xfrm>
          <a:prstGeom prst="roundRect">
            <a:avLst>
              <a:gd name="adj" fmla="val 7059"/>
            </a:avLst>
          </a:prstGeom>
          <a:solidFill>
            <a:schemeClr val="bg2"/>
          </a:solidFill>
          <a:ln/>
        </p:spPr>
      </p:sp>
      <p:sp>
        <p:nvSpPr>
          <p:cNvPr id="34" name="dot-104"/>
          <p:cNvSpPr/>
          <p:nvPr/>
        </p:nvSpPr>
        <p:spPr>
          <a:xfrm>
            <a:off x="6894576" y="3154680"/>
            <a:ext cx="384048" cy="384048"/>
          </a:xfrm>
          <a:prstGeom prst="ellipse">
            <a:avLst/>
          </a:prstGeom>
          <a:solidFill>
            <a:schemeClr val="accent1"/>
          </a:solidFill>
          <a:ln/>
        </p:spPr>
      </p:sp>
      <p:pic>
        <p:nvPicPr>
          <p:cNvPr id="35" name="icon-105" descr="/tmp/tmp.U4D0us9tfa/icons/preferences-color.png">    </p:cNvPr>
          <p:cNvPicPr>
            <a:picLocks noChangeAspect="1"/>
          </p:cNvPicPr>
          <p:nvPr/>
        </p:nvPicPr>
        <p:blipFill>
          <a:blip r:embed="rId8"/>
          <a:stretch>
            <a:fillRect/>
          </a:stretch>
        </p:blipFill>
        <p:spPr>
          <a:xfrm>
            <a:off x="6986016" y="3246120"/>
            <a:ext cx="201168" cy="201168"/>
          </a:xfrm>
          <a:prstGeom prst="rect">
            <a:avLst/>
          </a:prstGeom>
        </p:spPr>
      </p:pic>
      <p:sp>
        <p:nvSpPr>
          <p:cNvPr id="36" name="cardtext-106"/>
          <p:cNvSpPr txBox="1"/>
          <p:nvPr/>
        </p:nvSpPr>
        <p:spPr>
          <a:xfrm>
            <a:off x="6894576" y="3630168"/>
            <a:ext cx="155448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Your look</a:t>
            </a:r>
            <a:endParaRPr lang="en-US" sz="1500" dirty="0"/>
          </a:p>
          <a:p>
            <a:pPr indent="0" marL="0">
              <a:spcAft>
                <a:spcPts val="300"/>
              </a:spcAft>
              <a:buNone/>
            </a:pPr>
            <a:r>
              <a:rPr lang="en-US" sz="1200" dirty="0">
                <a:solidFill>
                  <a:schemeClr val="tx2"/>
                </a:solidFill>
              </a:rPr>
              <a:t>theme, font, size, spacing</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STEP AWAY</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Screensavers worth stepping away for</a:t>
            </a:r>
            <a:endParaRPr lang="en-US" sz="3000" dirty="0"/>
          </a:p>
        </p:txBody>
      </p:sp>
      <p:pic>
        <p:nvPicPr>
          <p:cNvPr id="5" name="scene-web-107" descr="/tmp/tmp.U4D0us9tfa/img/scene-web.jpg">    </p:cNvPr>
          <p:cNvPicPr>
            <a:picLocks noChangeAspect="1"/>
          </p:cNvPicPr>
          <p:nvPr/>
        </p:nvPicPr>
        <p:blipFill>
          <a:blip r:embed="rId1"/>
          <a:stretch>
            <a:fillRect/>
          </a:stretch>
        </p:blipFill>
        <p:spPr>
          <a:xfrm>
            <a:off x="457200" y="1280160"/>
            <a:ext cx="2651760" cy="1490472"/>
          </a:xfrm>
          <a:prstGeom prst="rect">
            <a:avLst/>
          </a:prstGeom>
          <a:effectLst>
            <a:outerShdw sx="100000" sy="100000" kx="0" ky="0" algn="bl" rotWithShape="0" blurRad="127000" dist="38100" dir="5400000">
              <a:srgbClr val="0B1430">
                <a:alpha val="18000"/>
              </a:srgbClr>
            </a:outerShdw>
          </a:effectLst>
        </p:spPr>
      </p:pic>
      <p:pic>
        <p:nvPicPr>
          <p:cNvPr id="6" name="scene-knight-108" descr="/tmp/tmp.U4D0us9tfa/img/scene-knight.jpg">    </p:cNvPr>
          <p:cNvPicPr>
            <a:picLocks noChangeAspect="1"/>
          </p:cNvPicPr>
          <p:nvPr/>
        </p:nvPicPr>
        <p:blipFill>
          <a:blip r:embed="rId2"/>
          <a:stretch>
            <a:fillRect/>
          </a:stretch>
        </p:blipFill>
        <p:spPr>
          <a:xfrm>
            <a:off x="3246120" y="1280160"/>
            <a:ext cx="2651760" cy="1490472"/>
          </a:xfrm>
          <a:prstGeom prst="rect">
            <a:avLst/>
          </a:prstGeom>
          <a:effectLst>
            <a:outerShdw sx="100000" sy="100000" kx="0" ky="0" algn="bl" rotWithShape="0" blurRad="127000" dist="38100" dir="5400000">
              <a:srgbClr val="0B1430">
                <a:alpha val="18000"/>
              </a:srgbClr>
            </a:outerShdw>
          </a:effectLst>
        </p:spPr>
      </p:pic>
      <p:pic>
        <p:nvPicPr>
          <p:cNvPr id="7" name="scene-matrix-109" descr="/tmp/tmp.U4D0us9tfa/img/scene-matrix.jpg">    </p:cNvPr>
          <p:cNvPicPr>
            <a:picLocks noChangeAspect="1"/>
          </p:cNvPicPr>
          <p:nvPr/>
        </p:nvPicPr>
        <p:blipFill>
          <a:blip r:embed="rId3"/>
          <a:stretch>
            <a:fillRect/>
          </a:stretch>
        </p:blipFill>
        <p:spPr>
          <a:xfrm>
            <a:off x="6035040" y="1280160"/>
            <a:ext cx="2651760" cy="1490472"/>
          </a:xfrm>
          <a:prstGeom prst="rect">
            <a:avLst/>
          </a:prstGeom>
          <a:effectLst>
            <a:outerShdw sx="100000" sy="100000" kx="0" ky="0" algn="bl" rotWithShape="0" blurRad="127000" dist="38100" dir="5400000">
              <a:srgbClr val="0B1430">
                <a:alpha val="18000"/>
              </a:srgbClr>
            </a:outerShdw>
          </a:effectLst>
        </p:spPr>
      </p:pic>
      <p:sp>
        <p:nvSpPr>
          <p:cNvPr id="8" name="caption-110"/>
          <p:cNvSpPr txBox="1"/>
          <p:nvPr/>
        </p:nvSpPr>
        <p:spPr>
          <a:xfrm>
            <a:off x="457200" y="2852928"/>
            <a:ext cx="8229600" cy="274320"/>
          </a:xfrm>
          <a:prstGeom prst="rect">
            <a:avLst/>
          </a:prstGeom>
          <a:noFill/>
          <a:ln/>
        </p:spPr>
        <p:txBody>
          <a:bodyPr wrap="square" lIns="0" tIns="0" rIns="0" bIns="0" rtlCol="0" anchor="ctr"/>
          <a:lstStyle/>
          <a:p>
            <a:pPr indent="0" marL="0">
              <a:buNone/>
            </a:pPr>
            <a:r>
              <a:rPr lang="en-US" sz="1000" i="1" dirty="0">
                <a:solidFill>
                  <a:schemeClr val="tx2"/>
                </a:solidFill>
              </a:rPr>
              <a:t>Web Hang · Night Watch · Terminal Stream</a:t>
            </a:r>
            <a:endParaRPr lang="en-US" sz="1000" dirty="0"/>
          </a:p>
        </p:txBody>
      </p:sp>
      <p:sp>
        <p:nvSpPr>
          <p:cNvPr id="9" name="dot-111"/>
          <p:cNvSpPr/>
          <p:nvPr/>
        </p:nvSpPr>
        <p:spPr>
          <a:xfrm>
            <a:off x="457200" y="3310128"/>
            <a:ext cx="384048" cy="384048"/>
          </a:xfrm>
          <a:prstGeom prst="ellipse">
            <a:avLst/>
          </a:prstGeom>
          <a:solidFill>
            <a:schemeClr val="accent1"/>
          </a:solidFill>
          <a:ln/>
        </p:spPr>
      </p:sp>
      <p:pic>
        <p:nvPicPr>
          <p:cNvPr id="10" name="icon-112" descr="/tmp/tmp.U4D0us9tfa/icons/weather-clear-night.png">    </p:cNvPr>
          <p:cNvPicPr>
            <a:picLocks noChangeAspect="1"/>
          </p:cNvPicPr>
          <p:nvPr/>
        </p:nvPicPr>
        <p:blipFill>
          <a:blip r:embed="rId4"/>
          <a:stretch>
            <a:fillRect/>
          </a:stretch>
        </p:blipFill>
        <p:spPr>
          <a:xfrm>
            <a:off x="548640" y="3401568"/>
            <a:ext cx="201168" cy="201168"/>
          </a:xfrm>
          <a:prstGeom prst="rect">
            <a:avLst/>
          </a:prstGeom>
        </p:spPr>
      </p:pic>
      <p:sp>
        <p:nvSpPr>
          <p:cNvPr id="11" name="row-113"/>
          <p:cNvSpPr txBox="1"/>
          <p:nvPr/>
        </p:nvSpPr>
        <p:spPr>
          <a:xfrm>
            <a:off x="960120" y="3255264"/>
            <a:ext cx="352044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When you step away</a:t>
            </a:r>
            <a:endParaRPr lang="en-US" sz="1400" dirty="0"/>
          </a:p>
          <a:p>
            <a:pPr indent="0" marL="0">
              <a:spcAft>
                <a:spcPts val="100"/>
              </a:spcAft>
              <a:buNone/>
            </a:pPr>
            <a:r>
              <a:rPr lang="en-US" sz="1400" dirty="0">
                <a:solidFill>
                  <a:schemeClr val="tx2"/>
                </a:solidFill>
              </a:rPr>
              <a:t>after a few idle minutes; any touch ends it</a:t>
            </a:r>
            <a:endParaRPr lang="en-US" sz="1400" dirty="0"/>
          </a:p>
        </p:txBody>
      </p:sp>
      <p:sp>
        <p:nvSpPr>
          <p:cNvPr id="12" name="dot-114"/>
          <p:cNvSpPr/>
          <p:nvPr/>
        </p:nvSpPr>
        <p:spPr>
          <a:xfrm>
            <a:off x="4663440" y="3310128"/>
            <a:ext cx="384048" cy="384048"/>
          </a:xfrm>
          <a:prstGeom prst="ellipse">
            <a:avLst/>
          </a:prstGeom>
          <a:solidFill>
            <a:schemeClr val="accent1"/>
          </a:solidFill>
          <a:ln/>
        </p:spPr>
      </p:sp>
      <p:pic>
        <p:nvPicPr>
          <p:cNvPr id="13" name="icon-115" descr="/tmp/tmp.U4D0us9tfa/icons/video-display.png">    </p:cNvPr>
          <p:cNvPicPr>
            <a:picLocks noChangeAspect="1"/>
          </p:cNvPicPr>
          <p:nvPr/>
        </p:nvPicPr>
        <p:blipFill>
          <a:blip r:embed="rId5"/>
          <a:stretch>
            <a:fillRect/>
          </a:stretch>
        </p:blipFill>
        <p:spPr>
          <a:xfrm>
            <a:off x="4754880" y="3401568"/>
            <a:ext cx="201168" cy="201168"/>
          </a:xfrm>
          <a:prstGeom prst="rect">
            <a:avLst/>
          </a:prstGeom>
        </p:spPr>
      </p:pic>
      <p:sp>
        <p:nvSpPr>
          <p:cNvPr id="14" name="row-116"/>
          <p:cNvSpPr txBox="1"/>
          <p:nvPr/>
        </p:nvSpPr>
        <p:spPr>
          <a:xfrm>
            <a:off x="5166360" y="3255264"/>
            <a:ext cx="352044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Never over a film</a:t>
            </a:r>
            <a:endParaRPr lang="en-US" sz="1400" dirty="0"/>
          </a:p>
          <a:p>
            <a:pPr indent="0" marL="0">
              <a:spcAft>
                <a:spcPts val="100"/>
              </a:spcAft>
              <a:buNone/>
            </a:pPr>
            <a:r>
              <a:rPr lang="en-US" sz="1400" dirty="0">
                <a:solidFill>
                  <a:schemeClr val="tx2"/>
                </a:solidFill>
              </a:rPr>
              <a:t>videos and calls keep it away</a:t>
            </a:r>
            <a:endParaRPr lang="en-US" sz="1400" dirty="0"/>
          </a:p>
        </p:txBody>
      </p:sp>
      <p:sp>
        <p:nvSpPr>
          <p:cNvPr id="15" name="dot-117"/>
          <p:cNvSpPr/>
          <p:nvPr/>
        </p:nvSpPr>
        <p:spPr>
          <a:xfrm>
            <a:off x="457200" y="3995928"/>
            <a:ext cx="384048" cy="384048"/>
          </a:xfrm>
          <a:prstGeom prst="ellipse">
            <a:avLst/>
          </a:prstGeom>
          <a:solidFill>
            <a:schemeClr val="accent1"/>
          </a:solidFill>
          <a:ln/>
        </p:spPr>
      </p:sp>
      <p:pic>
        <p:nvPicPr>
          <p:cNvPr id="16" name="icon-118" descr="/tmp/tmp.U4D0us9tfa/icons/alarm.png">    </p:cNvPr>
          <p:cNvPicPr>
            <a:picLocks noChangeAspect="1"/>
          </p:cNvPicPr>
          <p:nvPr/>
        </p:nvPicPr>
        <p:blipFill>
          <a:blip r:embed="rId6"/>
          <a:stretch>
            <a:fillRect/>
          </a:stretch>
        </p:blipFill>
        <p:spPr>
          <a:xfrm>
            <a:off x="548640" y="4087368"/>
            <a:ext cx="201168" cy="201168"/>
          </a:xfrm>
          <a:prstGeom prst="rect">
            <a:avLst/>
          </a:prstGeom>
        </p:spPr>
      </p:pic>
      <p:sp>
        <p:nvSpPr>
          <p:cNvPr id="17" name="row-119"/>
          <p:cNvSpPr txBox="1"/>
          <p:nvPr/>
        </p:nvSpPr>
        <p:spPr>
          <a:xfrm>
            <a:off x="960120" y="3941064"/>
            <a:ext cx="352044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Focus timer</a:t>
            </a:r>
            <a:endParaRPr lang="en-US" sz="1400" dirty="0"/>
          </a:p>
          <a:p>
            <a:pPr indent="0" marL="0">
              <a:spcAft>
                <a:spcPts val="100"/>
              </a:spcAft>
              <a:buNone/>
            </a:pPr>
            <a:r>
              <a:rPr lang="en-US" sz="1400" dirty="0">
                <a:solidFill>
                  <a:schemeClr val="tx2"/>
                </a:solidFill>
              </a:rPr>
              <a:t>countdown in the top bar, then a little party</a:t>
            </a:r>
            <a:endParaRPr lang="en-US" sz="1400" dirty="0"/>
          </a:p>
        </p:txBody>
      </p:sp>
      <p:sp>
        <p:nvSpPr>
          <p:cNvPr id="18" name="dot-120"/>
          <p:cNvSpPr/>
          <p:nvPr/>
        </p:nvSpPr>
        <p:spPr>
          <a:xfrm>
            <a:off x="4663440" y="3995928"/>
            <a:ext cx="384048" cy="384048"/>
          </a:xfrm>
          <a:prstGeom prst="ellipse">
            <a:avLst/>
          </a:prstGeom>
          <a:solidFill>
            <a:schemeClr val="accent1"/>
          </a:solidFill>
          <a:ln/>
        </p:spPr>
      </p:sp>
      <p:pic>
        <p:nvPicPr>
          <p:cNvPr id="19" name="icon-121" descr="/tmp/tmp.U4D0us9tfa/icons/system-run.png">    </p:cNvPr>
          <p:cNvPicPr>
            <a:picLocks noChangeAspect="1"/>
          </p:cNvPicPr>
          <p:nvPr/>
        </p:nvPicPr>
        <p:blipFill>
          <a:blip r:embed="rId7"/>
          <a:stretch>
            <a:fillRect/>
          </a:stretch>
        </p:blipFill>
        <p:spPr>
          <a:xfrm>
            <a:off x="4754880" y="4087368"/>
            <a:ext cx="201168" cy="201168"/>
          </a:xfrm>
          <a:prstGeom prst="rect">
            <a:avLst/>
          </a:prstGeom>
        </p:spPr>
      </p:pic>
      <p:sp>
        <p:nvSpPr>
          <p:cNvPr id="20" name="row-122"/>
          <p:cNvSpPr txBox="1"/>
          <p:nvPr/>
        </p:nvSpPr>
        <p:spPr>
          <a:xfrm>
            <a:off x="5166360" y="3941064"/>
            <a:ext cx="352044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Light on the machine</a:t>
            </a:r>
            <a:endParaRPr lang="en-US" sz="1400" dirty="0"/>
          </a:p>
          <a:p>
            <a:pPr indent="0" marL="0">
              <a:spcAft>
                <a:spcPts val="100"/>
              </a:spcAft>
              <a:buNone/>
            </a:pPr>
            <a:r>
              <a:rPr lang="en-US" sz="1400" dirty="0">
                <a:solidFill>
                  <a:schemeClr val="tx2"/>
                </a:solidFill>
              </a:rPr>
              <a:t>30 fps, still parts drawn once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THE TOP BAR</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Everything you check, one click away</a:t>
            </a:r>
            <a:endParaRPr lang="en-US" sz="3000" dirty="0"/>
          </a:p>
        </p:txBody>
      </p:sp>
      <p:pic>
        <p:nvPicPr>
          <p:cNvPr id="5" name="monitor" descr="/tmp/tmp.U4D0us9tfa/img/speedtest.jpg">    </p:cNvPr>
          <p:cNvPicPr>
            <a:picLocks noChangeAspect="1"/>
          </p:cNvPicPr>
          <p:nvPr/>
        </p:nvPicPr>
        <p:blipFill>
          <a:blip r:embed="rId1"/>
          <a:stretch>
            <a:fillRect/>
          </a:stretch>
        </p:blipFill>
        <p:spPr>
          <a:xfrm>
            <a:off x="457200" y="1280160"/>
            <a:ext cx="1700784" cy="2926080"/>
          </a:xfrm>
          <a:prstGeom prst="rect">
            <a:avLst/>
          </a:prstGeom>
          <a:effectLst>
            <a:outerShdw sx="100000" sy="100000" kx="0" ky="0" algn="bl" rotWithShape="0" blurRad="127000" dist="38100" dir="5400000">
              <a:srgbClr val="0B1430">
                <a:alpha val="18000"/>
              </a:srgbClr>
            </a:outerShdw>
          </a:effectLst>
        </p:spPr>
      </p:pic>
      <p:pic>
        <p:nvPicPr>
          <p:cNvPr id="6" name="media" descr="/tmp/tmp.U4D0us9tfa/img/media.jpg">    </p:cNvPr>
          <p:cNvPicPr>
            <a:picLocks noChangeAspect="1"/>
          </p:cNvPicPr>
          <p:nvPr/>
        </p:nvPicPr>
        <p:blipFill>
          <a:blip r:embed="rId2"/>
          <a:stretch>
            <a:fillRect/>
          </a:stretch>
        </p:blipFill>
        <p:spPr>
          <a:xfrm>
            <a:off x="2331720" y="1280160"/>
            <a:ext cx="2221992" cy="2926080"/>
          </a:xfrm>
          <a:prstGeom prst="rect">
            <a:avLst/>
          </a:prstGeom>
          <a:effectLst>
            <a:outerShdw sx="100000" sy="100000" kx="0" ky="0" algn="bl" rotWithShape="0" blurRad="127000" dist="38100" dir="5400000">
              <a:srgbClr val="0B1430">
                <a:alpha val="18000"/>
              </a:srgbClr>
            </a:outerShdw>
          </a:effectLst>
        </p:spPr>
      </p:pic>
      <p:sp>
        <p:nvSpPr>
          <p:cNvPr id="7" name="caption-123"/>
          <p:cNvSpPr txBox="1"/>
          <p:nvPr/>
        </p:nvSpPr>
        <p:spPr>
          <a:xfrm>
            <a:off x="457200" y="4297680"/>
            <a:ext cx="4114800" cy="274320"/>
          </a:xfrm>
          <a:prstGeom prst="rect">
            <a:avLst/>
          </a:prstGeom>
          <a:noFill/>
          <a:ln/>
        </p:spPr>
        <p:txBody>
          <a:bodyPr wrap="square" lIns="0" tIns="0" rIns="0" bIns="0" rtlCol="0" anchor="ctr"/>
          <a:lstStyle/>
          <a:p>
            <a:pPr indent="0" marL="0">
              <a:buNone/>
            </a:pPr>
            <a:r>
              <a:rPr lang="en-US" sz="1000" i="1" dirty="0">
                <a:solidFill>
                  <a:schemeClr val="tx2"/>
                </a:solidFill>
              </a:rPr>
              <a:t>Speed test and your music</a:t>
            </a:r>
            <a:endParaRPr lang="en-US" sz="1000" dirty="0"/>
          </a:p>
        </p:txBody>
      </p:sp>
      <p:sp>
        <p:nvSpPr>
          <p:cNvPr id="8" name="dot-124"/>
          <p:cNvSpPr/>
          <p:nvPr/>
        </p:nvSpPr>
        <p:spPr>
          <a:xfrm>
            <a:off x="4937760" y="1344168"/>
            <a:ext cx="384048" cy="384048"/>
          </a:xfrm>
          <a:prstGeom prst="ellipse">
            <a:avLst/>
          </a:prstGeom>
          <a:solidFill>
            <a:schemeClr val="accent1"/>
          </a:solidFill>
          <a:ln/>
        </p:spPr>
      </p:sp>
      <p:pic>
        <p:nvPicPr>
          <p:cNvPr id="9" name="icon-125" descr="/tmp/tmp.U4D0us9tfa/icons/video-display.png">    </p:cNvPr>
          <p:cNvPicPr>
            <a:picLocks noChangeAspect="1"/>
          </p:cNvPicPr>
          <p:nvPr/>
        </p:nvPicPr>
        <p:blipFill>
          <a:blip r:embed="rId3"/>
          <a:stretch>
            <a:fillRect/>
          </a:stretch>
        </p:blipFill>
        <p:spPr>
          <a:xfrm>
            <a:off x="5029200" y="1435608"/>
            <a:ext cx="201168" cy="201168"/>
          </a:xfrm>
          <a:prstGeom prst="rect">
            <a:avLst/>
          </a:prstGeom>
        </p:spPr>
      </p:pic>
      <p:sp>
        <p:nvSpPr>
          <p:cNvPr id="10" name="row-126"/>
          <p:cNvSpPr txBox="1"/>
          <p:nvPr/>
        </p:nvSpPr>
        <p:spPr>
          <a:xfrm>
            <a:off x="5440680" y="1289304"/>
            <a:ext cx="32461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System monitor</a:t>
            </a:r>
            <a:endParaRPr lang="en-US" sz="1400" dirty="0"/>
          </a:p>
          <a:p>
            <a:pPr indent="0" marL="0">
              <a:spcAft>
                <a:spcPts val="100"/>
              </a:spcAft>
              <a:buNone/>
            </a:pPr>
            <a:r>
              <a:rPr lang="en-US" sz="1400" dirty="0">
                <a:solidFill>
                  <a:schemeClr val="tx2"/>
                </a:solidFill>
              </a:rPr>
              <a:t>CPU, memory, temperatures, battery</a:t>
            </a:r>
            <a:endParaRPr lang="en-US" sz="1400" dirty="0"/>
          </a:p>
        </p:txBody>
      </p:sp>
      <p:sp>
        <p:nvSpPr>
          <p:cNvPr id="11" name="dot-127"/>
          <p:cNvSpPr/>
          <p:nvPr/>
        </p:nvSpPr>
        <p:spPr>
          <a:xfrm>
            <a:off x="4937760" y="2121408"/>
            <a:ext cx="384048" cy="384048"/>
          </a:xfrm>
          <a:prstGeom prst="ellipse">
            <a:avLst/>
          </a:prstGeom>
          <a:solidFill>
            <a:schemeClr val="accent1"/>
          </a:solidFill>
          <a:ln/>
        </p:spPr>
      </p:sp>
      <p:pic>
        <p:nvPicPr>
          <p:cNvPr id="12" name="icon-128" descr="/tmp/tmp.U4D0us9tfa/icons/network-workgroup.png">    </p:cNvPr>
          <p:cNvPicPr>
            <a:picLocks noChangeAspect="1"/>
          </p:cNvPicPr>
          <p:nvPr/>
        </p:nvPicPr>
        <p:blipFill>
          <a:blip r:embed="rId4"/>
          <a:stretch>
            <a:fillRect/>
          </a:stretch>
        </p:blipFill>
        <p:spPr>
          <a:xfrm>
            <a:off x="5029200" y="2212848"/>
            <a:ext cx="201168" cy="201168"/>
          </a:xfrm>
          <a:prstGeom prst="rect">
            <a:avLst/>
          </a:prstGeom>
        </p:spPr>
      </p:pic>
      <p:sp>
        <p:nvSpPr>
          <p:cNvPr id="13" name="row-129"/>
          <p:cNvSpPr txBox="1"/>
          <p:nvPr/>
        </p:nvSpPr>
        <p:spPr>
          <a:xfrm>
            <a:off x="5440680" y="2066544"/>
            <a:ext cx="32461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Speed test</a:t>
            </a:r>
            <a:endParaRPr lang="en-US" sz="1400" dirty="0"/>
          </a:p>
          <a:p>
            <a:pPr indent="0" marL="0">
              <a:spcAft>
                <a:spcPts val="100"/>
              </a:spcAft>
              <a:buNone/>
            </a:pPr>
            <a:r>
              <a:rPr lang="en-US" sz="1400" dirty="0">
                <a:solidFill>
                  <a:schemeClr val="tx2"/>
                </a:solidFill>
              </a:rPr>
              <a:t>ping, download, upload on a gauge</a:t>
            </a:r>
            <a:endParaRPr lang="en-US" sz="1400" dirty="0"/>
          </a:p>
        </p:txBody>
      </p:sp>
      <p:sp>
        <p:nvSpPr>
          <p:cNvPr id="14" name="dot-130"/>
          <p:cNvSpPr/>
          <p:nvPr/>
        </p:nvSpPr>
        <p:spPr>
          <a:xfrm>
            <a:off x="4937760" y="2898648"/>
            <a:ext cx="384048" cy="384048"/>
          </a:xfrm>
          <a:prstGeom prst="ellipse">
            <a:avLst/>
          </a:prstGeom>
          <a:solidFill>
            <a:schemeClr val="accent1"/>
          </a:solidFill>
          <a:ln/>
        </p:spPr>
      </p:sp>
      <p:pic>
        <p:nvPicPr>
          <p:cNvPr id="15" name="icon-131" descr="/tmp/tmp.U4D0us9tfa/icons/audio-speakers.png">    </p:cNvPr>
          <p:cNvPicPr>
            <a:picLocks noChangeAspect="1"/>
          </p:cNvPicPr>
          <p:nvPr/>
        </p:nvPicPr>
        <p:blipFill>
          <a:blip r:embed="rId5"/>
          <a:stretch>
            <a:fillRect/>
          </a:stretch>
        </p:blipFill>
        <p:spPr>
          <a:xfrm>
            <a:off x="5029200" y="2990088"/>
            <a:ext cx="201168" cy="201168"/>
          </a:xfrm>
          <a:prstGeom prst="rect">
            <a:avLst/>
          </a:prstGeom>
        </p:spPr>
      </p:pic>
      <p:sp>
        <p:nvSpPr>
          <p:cNvPr id="16" name="row-132"/>
          <p:cNvSpPr txBox="1"/>
          <p:nvPr/>
        </p:nvSpPr>
        <p:spPr>
          <a:xfrm>
            <a:off x="5440680" y="2843784"/>
            <a:ext cx="32461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Your music</a:t>
            </a:r>
            <a:endParaRPr lang="en-US" sz="1400" dirty="0"/>
          </a:p>
          <a:p>
            <a:pPr indent="0" marL="0">
              <a:spcAft>
                <a:spcPts val="100"/>
              </a:spcAft>
              <a:buNone/>
            </a:pPr>
            <a:r>
              <a:rPr lang="en-US" sz="1400" dirty="0">
                <a:solidFill>
                  <a:schemeClr val="tx2"/>
                </a:solidFill>
              </a:rPr>
              <a:t>art, seek, skip, choose speakers</a:t>
            </a:r>
            <a:endParaRPr lang="en-US" sz="1400" dirty="0"/>
          </a:p>
        </p:txBody>
      </p:sp>
      <p:sp>
        <p:nvSpPr>
          <p:cNvPr id="17" name="dot-133"/>
          <p:cNvSpPr/>
          <p:nvPr/>
        </p:nvSpPr>
        <p:spPr>
          <a:xfrm>
            <a:off x="4937760" y="3675888"/>
            <a:ext cx="384048" cy="384048"/>
          </a:xfrm>
          <a:prstGeom prst="ellipse">
            <a:avLst/>
          </a:prstGeom>
          <a:solidFill>
            <a:schemeClr val="accent1"/>
          </a:solidFill>
          <a:ln/>
        </p:spPr>
      </p:sp>
      <p:pic>
        <p:nvPicPr>
          <p:cNvPr id="18" name="icon-134" descr="/tmp/tmp.U4D0us9tfa/icons/edit-paste.png">    </p:cNvPr>
          <p:cNvPicPr>
            <a:picLocks noChangeAspect="1"/>
          </p:cNvPicPr>
          <p:nvPr/>
        </p:nvPicPr>
        <p:blipFill>
          <a:blip r:embed="rId6"/>
          <a:stretch>
            <a:fillRect/>
          </a:stretch>
        </p:blipFill>
        <p:spPr>
          <a:xfrm>
            <a:off x="5029200" y="3767328"/>
            <a:ext cx="201168" cy="201168"/>
          </a:xfrm>
          <a:prstGeom prst="rect">
            <a:avLst/>
          </a:prstGeom>
        </p:spPr>
      </p:pic>
      <p:sp>
        <p:nvSpPr>
          <p:cNvPr id="19" name="row-135"/>
          <p:cNvSpPr txBox="1"/>
          <p:nvPr/>
        </p:nvSpPr>
        <p:spPr>
          <a:xfrm>
            <a:off x="5440680" y="3621024"/>
            <a:ext cx="324612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Clipboard history</a:t>
            </a:r>
            <a:endParaRPr lang="en-US" sz="1400" dirty="0"/>
          </a:p>
          <a:p>
            <a:pPr indent="0" marL="0">
              <a:spcAft>
                <a:spcPts val="100"/>
              </a:spcAft>
              <a:buNone/>
            </a:pPr>
            <a:r>
              <a:rPr lang="en-US" sz="1400" dirty="0">
                <a:solidFill>
                  <a:schemeClr val="tx2"/>
                </a:solidFill>
              </a:rPr>
              <a:t>Super+V brings back what you copied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APPS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Installed and ready on first login</a:t>
            </a:r>
            <a:endParaRPr lang="en-US" sz="3000" dirty="0"/>
          </a:p>
        </p:txBody>
      </p:sp>
      <p:pic>
        <p:nvPicPr>
          <p:cNvPr id="5" name="app-136" descr="/tmp/tmp.U4D0us9tfa/apps/app.zen_browser.zen.png">    </p:cNvPr>
          <p:cNvPicPr>
            <a:picLocks noChangeAspect="1"/>
          </p:cNvPicPr>
          <p:nvPr/>
        </p:nvPicPr>
        <p:blipFill>
          <a:blip r:embed="rId1"/>
          <a:stretch>
            <a:fillRect/>
          </a:stretch>
        </p:blipFill>
        <p:spPr>
          <a:xfrm>
            <a:off x="731520" y="1325880"/>
            <a:ext cx="640080" cy="640080"/>
          </a:xfrm>
          <a:prstGeom prst="rect">
            <a:avLst/>
          </a:prstGeom>
        </p:spPr>
      </p:pic>
      <p:sp>
        <p:nvSpPr>
          <p:cNvPr id="6" name="applabel-137"/>
          <p:cNvSpPr txBox="1"/>
          <p:nvPr/>
        </p:nvSpPr>
        <p:spPr>
          <a:xfrm>
            <a:off x="45720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Zen Browser</a:t>
            </a:r>
            <a:endParaRPr lang="en-US" sz="1200" dirty="0"/>
          </a:p>
        </p:txBody>
      </p:sp>
      <p:pic>
        <p:nvPicPr>
          <p:cNvPr id="7" name="app-138" descr="/tmp/tmp.U4D0us9tfa/apps/net.cozic.joplin_desktop.png">    </p:cNvPr>
          <p:cNvPicPr>
            <a:picLocks noChangeAspect="1"/>
          </p:cNvPicPr>
          <p:nvPr/>
        </p:nvPicPr>
        <p:blipFill>
          <a:blip r:embed="rId2"/>
          <a:stretch>
            <a:fillRect/>
          </a:stretch>
        </p:blipFill>
        <p:spPr>
          <a:xfrm>
            <a:off x="1920240" y="1325880"/>
            <a:ext cx="640080" cy="640080"/>
          </a:xfrm>
          <a:prstGeom prst="rect">
            <a:avLst/>
          </a:prstGeom>
        </p:spPr>
      </p:pic>
      <p:sp>
        <p:nvSpPr>
          <p:cNvPr id="8" name="applabel-139"/>
          <p:cNvSpPr txBox="1"/>
          <p:nvPr/>
        </p:nvSpPr>
        <p:spPr>
          <a:xfrm>
            <a:off x="164592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Joplin</a:t>
            </a:r>
            <a:endParaRPr lang="en-US" sz="1200" dirty="0"/>
          </a:p>
        </p:txBody>
      </p:sp>
      <p:pic>
        <p:nvPicPr>
          <p:cNvPr id="9" name="app-140" descr="/tmp/tmp.U4D0us9tfa/apps/org.onlyoffice.desktopeditors.png">    </p:cNvPr>
          <p:cNvPicPr>
            <a:picLocks noChangeAspect="1"/>
          </p:cNvPicPr>
          <p:nvPr/>
        </p:nvPicPr>
        <p:blipFill>
          <a:blip r:embed="rId3"/>
          <a:stretch>
            <a:fillRect/>
          </a:stretch>
        </p:blipFill>
        <p:spPr>
          <a:xfrm>
            <a:off x="3108960" y="1325880"/>
            <a:ext cx="640080" cy="640080"/>
          </a:xfrm>
          <a:prstGeom prst="rect">
            <a:avLst/>
          </a:prstGeom>
        </p:spPr>
      </p:pic>
      <p:sp>
        <p:nvSpPr>
          <p:cNvPr id="10" name="applabel-141"/>
          <p:cNvSpPr txBox="1"/>
          <p:nvPr/>
        </p:nvSpPr>
        <p:spPr>
          <a:xfrm>
            <a:off x="283464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ONLYOFFICE</a:t>
            </a:r>
            <a:endParaRPr lang="en-US" sz="1200" dirty="0"/>
          </a:p>
        </p:txBody>
      </p:sp>
      <p:pic>
        <p:nvPicPr>
          <p:cNvPr id="11" name="app-142" descr="/tmp/tmp.U4D0us9tfa/apps/vscode.png">    </p:cNvPr>
          <p:cNvPicPr>
            <a:picLocks noChangeAspect="1"/>
          </p:cNvPicPr>
          <p:nvPr/>
        </p:nvPicPr>
        <p:blipFill>
          <a:blip r:embed="rId4"/>
          <a:stretch>
            <a:fillRect/>
          </a:stretch>
        </p:blipFill>
        <p:spPr>
          <a:xfrm>
            <a:off x="4297680" y="1325880"/>
            <a:ext cx="640080" cy="640080"/>
          </a:xfrm>
          <a:prstGeom prst="rect">
            <a:avLst/>
          </a:prstGeom>
        </p:spPr>
      </p:pic>
      <p:sp>
        <p:nvSpPr>
          <p:cNvPr id="12" name="applabel-143"/>
          <p:cNvSpPr txBox="1"/>
          <p:nvPr/>
        </p:nvSpPr>
        <p:spPr>
          <a:xfrm>
            <a:off x="402336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VS Code</a:t>
            </a:r>
            <a:endParaRPr lang="en-US" sz="1200" dirty="0"/>
          </a:p>
        </p:txBody>
      </p:sp>
      <p:pic>
        <p:nvPicPr>
          <p:cNvPr id="13" name="app-144" descr="/tmp/tmp.U4D0us9tfa/apps/com.spotify.Client.png">    </p:cNvPr>
          <p:cNvPicPr>
            <a:picLocks noChangeAspect="1"/>
          </p:cNvPicPr>
          <p:nvPr/>
        </p:nvPicPr>
        <p:blipFill>
          <a:blip r:embed="rId5"/>
          <a:stretch>
            <a:fillRect/>
          </a:stretch>
        </p:blipFill>
        <p:spPr>
          <a:xfrm>
            <a:off x="5486400" y="1325880"/>
            <a:ext cx="640080" cy="640080"/>
          </a:xfrm>
          <a:prstGeom prst="rect">
            <a:avLst/>
          </a:prstGeom>
        </p:spPr>
      </p:pic>
      <p:sp>
        <p:nvSpPr>
          <p:cNvPr id="14" name="applabel-145"/>
          <p:cNvSpPr txBox="1"/>
          <p:nvPr/>
        </p:nvSpPr>
        <p:spPr>
          <a:xfrm>
            <a:off x="521208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Spotify</a:t>
            </a:r>
            <a:endParaRPr lang="en-US" sz="1200" dirty="0"/>
          </a:p>
        </p:txBody>
      </p:sp>
      <p:pic>
        <p:nvPicPr>
          <p:cNvPr id="15" name="app-146" descr="/tmp/tmp.U4D0us9tfa/apps/net.lutris.Lutris.png">    </p:cNvPr>
          <p:cNvPicPr>
            <a:picLocks noChangeAspect="1"/>
          </p:cNvPicPr>
          <p:nvPr/>
        </p:nvPicPr>
        <p:blipFill>
          <a:blip r:embed="rId6"/>
          <a:stretch>
            <a:fillRect/>
          </a:stretch>
        </p:blipFill>
        <p:spPr>
          <a:xfrm>
            <a:off x="6675120" y="1325880"/>
            <a:ext cx="640080" cy="640080"/>
          </a:xfrm>
          <a:prstGeom prst="rect">
            <a:avLst/>
          </a:prstGeom>
        </p:spPr>
      </p:pic>
      <p:sp>
        <p:nvSpPr>
          <p:cNvPr id="16" name="applabel-147"/>
          <p:cNvSpPr txBox="1"/>
          <p:nvPr/>
        </p:nvSpPr>
        <p:spPr>
          <a:xfrm>
            <a:off x="640080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Lutris</a:t>
            </a:r>
            <a:endParaRPr lang="en-US" sz="1200" dirty="0"/>
          </a:p>
        </p:txBody>
      </p:sp>
      <p:pic>
        <p:nvPicPr>
          <p:cNvPr id="17" name="app-148" descr="/tmp/tmp.U4D0us9tfa/apps/com.mattjakeman.ExtensionManager.png">    </p:cNvPr>
          <p:cNvPicPr>
            <a:picLocks noChangeAspect="1"/>
          </p:cNvPicPr>
          <p:nvPr/>
        </p:nvPicPr>
        <p:blipFill>
          <a:blip r:embed="rId7"/>
          <a:stretch>
            <a:fillRect/>
          </a:stretch>
        </p:blipFill>
        <p:spPr>
          <a:xfrm>
            <a:off x="7863840" y="1325880"/>
            <a:ext cx="640080" cy="640080"/>
          </a:xfrm>
          <a:prstGeom prst="rect">
            <a:avLst/>
          </a:prstGeom>
        </p:spPr>
      </p:pic>
      <p:sp>
        <p:nvSpPr>
          <p:cNvPr id="18" name="applabel-149"/>
          <p:cNvSpPr txBox="1"/>
          <p:nvPr/>
        </p:nvSpPr>
        <p:spPr>
          <a:xfrm>
            <a:off x="7589520" y="203911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Extensions</a:t>
            </a:r>
            <a:endParaRPr lang="en-US" sz="1200" dirty="0"/>
          </a:p>
        </p:txBody>
      </p:sp>
      <p:pic>
        <p:nvPicPr>
          <p:cNvPr id="19" name="app-150" descr="/tmp/tmp.U4D0us9tfa/apps/net.sonobus.SonoBus.png">    </p:cNvPr>
          <p:cNvPicPr>
            <a:picLocks noChangeAspect="1"/>
          </p:cNvPicPr>
          <p:nvPr/>
        </p:nvPicPr>
        <p:blipFill>
          <a:blip r:embed="rId8"/>
          <a:stretch>
            <a:fillRect/>
          </a:stretch>
        </p:blipFill>
        <p:spPr>
          <a:xfrm>
            <a:off x="731520" y="2651760"/>
            <a:ext cx="640080" cy="640080"/>
          </a:xfrm>
          <a:prstGeom prst="rect">
            <a:avLst/>
          </a:prstGeom>
        </p:spPr>
      </p:pic>
      <p:sp>
        <p:nvSpPr>
          <p:cNvPr id="20" name="applabel-151"/>
          <p:cNvSpPr txBox="1"/>
          <p:nvPr/>
        </p:nvSpPr>
        <p:spPr>
          <a:xfrm>
            <a:off x="457200" y="336499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SonoBus</a:t>
            </a:r>
            <a:endParaRPr lang="en-US" sz="1200" dirty="0"/>
          </a:p>
        </p:txBody>
      </p:sp>
      <p:pic>
        <p:nvPicPr>
          <p:cNvPr id="21" name="app-152" descr="/tmp/tmp.U4D0us9tfa/apps/com.github.tenderowl.frog.png">    </p:cNvPr>
          <p:cNvPicPr>
            <a:picLocks noChangeAspect="1"/>
          </p:cNvPicPr>
          <p:nvPr/>
        </p:nvPicPr>
        <p:blipFill>
          <a:blip r:embed="rId9"/>
          <a:stretch>
            <a:fillRect/>
          </a:stretch>
        </p:blipFill>
        <p:spPr>
          <a:xfrm>
            <a:off x="1920240" y="2651760"/>
            <a:ext cx="640080" cy="640080"/>
          </a:xfrm>
          <a:prstGeom prst="rect">
            <a:avLst/>
          </a:prstGeom>
        </p:spPr>
      </p:pic>
      <p:sp>
        <p:nvSpPr>
          <p:cNvPr id="22" name="applabel-153"/>
          <p:cNvSpPr txBox="1"/>
          <p:nvPr/>
        </p:nvSpPr>
        <p:spPr>
          <a:xfrm>
            <a:off x="1645920" y="336499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Frog</a:t>
            </a:r>
            <a:endParaRPr lang="en-US" sz="1200" dirty="0"/>
          </a:p>
        </p:txBody>
      </p:sp>
      <p:pic>
        <p:nvPicPr>
          <p:cNvPr id="23" name="app-154" descr="/tmp/tmp.U4D0us9tfa/apps/one.alynx.FlipClock.png">    </p:cNvPr>
          <p:cNvPicPr>
            <a:picLocks noChangeAspect="1"/>
          </p:cNvPicPr>
          <p:nvPr/>
        </p:nvPicPr>
        <p:blipFill>
          <a:blip r:embed="rId10"/>
          <a:stretch>
            <a:fillRect/>
          </a:stretch>
        </p:blipFill>
        <p:spPr>
          <a:xfrm>
            <a:off x="3108960" y="2651760"/>
            <a:ext cx="640080" cy="640080"/>
          </a:xfrm>
          <a:prstGeom prst="rect">
            <a:avLst/>
          </a:prstGeom>
        </p:spPr>
      </p:pic>
      <p:sp>
        <p:nvSpPr>
          <p:cNvPr id="24" name="applabel-155"/>
          <p:cNvSpPr txBox="1"/>
          <p:nvPr/>
        </p:nvSpPr>
        <p:spPr>
          <a:xfrm>
            <a:off x="2834640" y="3364992"/>
            <a:ext cx="1188720" cy="274320"/>
          </a:xfrm>
          <a:prstGeom prst="rect">
            <a:avLst/>
          </a:prstGeom>
          <a:noFill/>
          <a:ln/>
        </p:spPr>
        <p:txBody>
          <a:bodyPr wrap="square" lIns="0" tIns="0" rIns="0" bIns="0" rtlCol="0" anchor="ctr"/>
          <a:lstStyle/>
          <a:p>
            <a:pPr algn="ctr" indent="0" marL="0">
              <a:buNone/>
            </a:pPr>
            <a:r>
              <a:rPr lang="en-US" sz="1200" dirty="0">
                <a:solidFill>
                  <a:schemeClr val="tx1"/>
                </a:solidFill>
              </a:rPr>
              <a:t>FlipClock</a:t>
            </a:r>
            <a:endParaRPr lang="en-US" sz="1200" dirty="0"/>
          </a:p>
        </p:txBody>
      </p:sp>
      <p:pic>
        <p:nvPicPr>
          <p:cNvPr id="25" name="app-156" descr="/tmp/tmp.U4D0us9tfa/apps/io.github.mehulk.MkNotes.png">    </p:cNvPr>
          <p:cNvPicPr>
            <a:picLocks noChangeAspect="1"/>
          </p:cNvPicPr>
          <p:nvPr/>
        </p:nvPicPr>
        <p:blipFill>
          <a:blip r:embed="rId11"/>
          <a:stretch>
            <a:fillRect/>
          </a:stretch>
        </p:blipFill>
        <p:spPr>
          <a:xfrm>
            <a:off x="4297680" y="2651760"/>
            <a:ext cx="640080" cy="640080"/>
          </a:xfrm>
          <a:prstGeom prst="rect">
            <a:avLst/>
          </a:prstGeom>
        </p:spPr>
      </p:pic>
      <p:sp>
        <p:nvSpPr>
          <p:cNvPr id="26" name="applabel-157"/>
          <p:cNvSpPr txBox="1"/>
          <p:nvPr/>
        </p:nvSpPr>
        <p:spPr>
          <a:xfrm>
            <a:off x="4023360" y="3364992"/>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MK Notes</a:t>
            </a:r>
            <a:endParaRPr lang="en-US" sz="1200" dirty="0"/>
          </a:p>
        </p:txBody>
      </p:sp>
      <p:pic>
        <p:nvPicPr>
          <p:cNvPr id="27" name="app-158" descr="/tmp/tmp.U4D0us9tfa/apps/io.github.mehulk.MkCompanion.png">    </p:cNvPr>
          <p:cNvPicPr>
            <a:picLocks noChangeAspect="1"/>
          </p:cNvPicPr>
          <p:nvPr/>
        </p:nvPicPr>
        <p:blipFill>
          <a:blip r:embed="rId12"/>
          <a:stretch>
            <a:fillRect/>
          </a:stretch>
        </p:blipFill>
        <p:spPr>
          <a:xfrm>
            <a:off x="5486400" y="2651760"/>
            <a:ext cx="640080" cy="640080"/>
          </a:xfrm>
          <a:prstGeom prst="rect">
            <a:avLst/>
          </a:prstGeom>
        </p:spPr>
      </p:pic>
      <p:sp>
        <p:nvSpPr>
          <p:cNvPr id="28" name="applabel-159"/>
          <p:cNvSpPr txBox="1"/>
          <p:nvPr/>
        </p:nvSpPr>
        <p:spPr>
          <a:xfrm>
            <a:off x="5212080" y="3364992"/>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Companion</a:t>
            </a:r>
            <a:endParaRPr lang="en-US" sz="1200" dirty="0"/>
          </a:p>
        </p:txBody>
      </p:sp>
      <p:pic>
        <p:nvPicPr>
          <p:cNvPr id="29" name="app-160" descr="/tmp/tmp.U4D0us9tfa/apps/io.github.mehulk.MkTimer.png">    </p:cNvPr>
          <p:cNvPicPr>
            <a:picLocks noChangeAspect="1"/>
          </p:cNvPicPr>
          <p:nvPr/>
        </p:nvPicPr>
        <p:blipFill>
          <a:blip r:embed="rId13"/>
          <a:stretch>
            <a:fillRect/>
          </a:stretch>
        </p:blipFill>
        <p:spPr>
          <a:xfrm>
            <a:off x="6675120" y="2651760"/>
            <a:ext cx="640080" cy="640080"/>
          </a:xfrm>
          <a:prstGeom prst="rect">
            <a:avLst/>
          </a:prstGeom>
        </p:spPr>
      </p:pic>
      <p:sp>
        <p:nvSpPr>
          <p:cNvPr id="30" name="applabel-161"/>
          <p:cNvSpPr txBox="1"/>
          <p:nvPr/>
        </p:nvSpPr>
        <p:spPr>
          <a:xfrm>
            <a:off x="6400800" y="3364992"/>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Focus Timer</a:t>
            </a:r>
            <a:endParaRPr lang="en-US" sz="1200" dirty="0"/>
          </a:p>
        </p:txBody>
      </p:sp>
      <p:pic>
        <p:nvPicPr>
          <p:cNvPr id="31" name="app-162" descr="/tmp/tmp.U4D0us9tfa/apps/io.github.mehulk.MkShortcuts.png">    </p:cNvPr>
          <p:cNvPicPr>
            <a:picLocks noChangeAspect="1"/>
          </p:cNvPicPr>
          <p:nvPr/>
        </p:nvPicPr>
        <p:blipFill>
          <a:blip r:embed="rId14"/>
          <a:stretch>
            <a:fillRect/>
          </a:stretch>
        </p:blipFill>
        <p:spPr>
          <a:xfrm>
            <a:off x="7863840" y="2651760"/>
            <a:ext cx="640080" cy="640080"/>
          </a:xfrm>
          <a:prstGeom prst="rect">
            <a:avLst/>
          </a:prstGeom>
        </p:spPr>
      </p:pic>
      <p:sp>
        <p:nvSpPr>
          <p:cNvPr id="32" name="applabel-163"/>
          <p:cNvSpPr txBox="1"/>
          <p:nvPr/>
        </p:nvSpPr>
        <p:spPr>
          <a:xfrm>
            <a:off x="7589520" y="3364992"/>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Shortcuts</a:t>
            </a:r>
            <a:endParaRPr lang="en-US" sz="1200" dirty="0"/>
          </a:p>
        </p:txBody>
      </p:sp>
      <p:sp>
        <p:nvSpPr>
          <p:cNvPr id="33" name="Text 16"/>
          <p:cNvSpPr txBox="1"/>
          <p:nvPr/>
        </p:nvSpPr>
        <p:spPr>
          <a:xfrm>
            <a:off x="457200" y="4023360"/>
            <a:ext cx="8229600" cy="640080"/>
          </a:xfrm>
          <a:prstGeom prst="rect">
            <a:avLst/>
          </a:prstGeom>
          <a:noFill/>
          <a:ln/>
        </p:spPr>
        <p:txBody>
          <a:bodyPr wrap="square" lIns="0" tIns="0" rIns="0" bIns="0" rtlCol="0" anchor="t"/>
          <a:lstStyle/>
          <a:p>
            <a:pPr indent="0" marL="0">
              <a:buNone/>
            </a:pPr>
            <a:r>
              <a:rPr lang="en-US" sz="1300" dirty="0">
                <a:solidFill>
                  <a:schemeClr val="tx2"/>
                </a:solidFill>
              </a:rPr>
              <a:t>Plus video and audio codecs, hardware video decoding, a modern terminal toolkit, gaming helpers and developer tools. Every app list is a plain text file: add a line and it's yours. Bold ones are made for MK Workstation.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YOUR COMPUTER</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It looks at your hardware, then tunes for it</a:t>
            </a:r>
            <a:endParaRPr lang="en-US" sz="3000" dirty="0"/>
          </a:p>
        </p:txBody>
      </p:sp>
      <p:sp>
        <p:nvSpPr>
          <p:cNvPr id="5" name="card-164"/>
          <p:cNvSpPr/>
          <p:nvPr/>
        </p:nvSpPr>
        <p:spPr>
          <a:xfrm>
            <a:off x="457200" y="1280160"/>
            <a:ext cx="2651760" cy="1554480"/>
          </a:xfrm>
          <a:prstGeom prst="roundRect">
            <a:avLst>
              <a:gd name="adj" fmla="val 7059"/>
            </a:avLst>
          </a:prstGeom>
          <a:solidFill>
            <a:schemeClr val="bg2"/>
          </a:solidFill>
          <a:ln/>
        </p:spPr>
      </p:sp>
      <p:sp>
        <p:nvSpPr>
          <p:cNvPr id="6" name="dot-165"/>
          <p:cNvSpPr/>
          <p:nvPr/>
        </p:nvSpPr>
        <p:spPr>
          <a:xfrm>
            <a:off x="640080" y="1463040"/>
            <a:ext cx="384048" cy="384048"/>
          </a:xfrm>
          <a:prstGeom prst="ellipse">
            <a:avLst/>
          </a:prstGeom>
          <a:solidFill>
            <a:schemeClr val="accent1"/>
          </a:solidFill>
          <a:ln/>
        </p:spPr>
      </p:sp>
      <p:pic>
        <p:nvPicPr>
          <p:cNvPr id="7" name="icon-166" descr="/tmp/tmp.U4D0us9tfa/icons/auth-fingerprint.png">    </p:cNvPr>
          <p:cNvPicPr>
            <a:picLocks noChangeAspect="1"/>
          </p:cNvPicPr>
          <p:nvPr/>
        </p:nvPicPr>
        <p:blipFill>
          <a:blip r:embed="rId1"/>
          <a:stretch>
            <a:fillRect/>
          </a:stretch>
        </p:blipFill>
        <p:spPr>
          <a:xfrm>
            <a:off x="731520" y="1554480"/>
            <a:ext cx="201168" cy="201168"/>
          </a:xfrm>
          <a:prstGeom prst="rect">
            <a:avLst/>
          </a:prstGeom>
        </p:spPr>
      </p:pic>
      <p:sp>
        <p:nvSpPr>
          <p:cNvPr id="8" name="cardtext-167"/>
          <p:cNvSpPr txBox="1"/>
          <p:nvPr/>
        </p:nvSpPr>
        <p:spPr>
          <a:xfrm>
            <a:off x="640080" y="193852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Fingerprint and face</a:t>
            </a:r>
            <a:endParaRPr lang="en-US" sz="1500" dirty="0"/>
          </a:p>
          <a:p>
            <a:pPr indent="0" marL="0">
              <a:spcAft>
                <a:spcPts val="300"/>
              </a:spcAft>
              <a:buNone/>
            </a:pPr>
            <a:r>
              <a:rPr lang="en-US" sz="1200" dirty="0">
                <a:solidFill>
                  <a:schemeClr val="tx2"/>
                </a:solidFill>
              </a:rPr>
              <a:t>log in with a touch or a glance</a:t>
            </a:r>
            <a:endParaRPr lang="en-US" sz="1500" dirty="0"/>
          </a:p>
        </p:txBody>
      </p:sp>
      <p:sp>
        <p:nvSpPr>
          <p:cNvPr id="9" name="card-168"/>
          <p:cNvSpPr/>
          <p:nvPr/>
        </p:nvSpPr>
        <p:spPr>
          <a:xfrm>
            <a:off x="3246120" y="1280160"/>
            <a:ext cx="2651760" cy="1554480"/>
          </a:xfrm>
          <a:prstGeom prst="roundRect">
            <a:avLst>
              <a:gd name="adj" fmla="val 7059"/>
            </a:avLst>
          </a:prstGeom>
          <a:solidFill>
            <a:schemeClr val="bg2"/>
          </a:solidFill>
          <a:ln/>
        </p:spPr>
      </p:sp>
      <p:sp>
        <p:nvSpPr>
          <p:cNvPr id="10" name="dot-169"/>
          <p:cNvSpPr/>
          <p:nvPr/>
        </p:nvSpPr>
        <p:spPr>
          <a:xfrm>
            <a:off x="3429000" y="1463040"/>
            <a:ext cx="384048" cy="384048"/>
          </a:xfrm>
          <a:prstGeom prst="ellipse">
            <a:avLst/>
          </a:prstGeom>
          <a:solidFill>
            <a:schemeClr val="accent1"/>
          </a:solidFill>
          <a:ln/>
        </p:spPr>
      </p:sp>
      <p:pic>
        <p:nvPicPr>
          <p:cNvPr id="11" name="icon-170" descr="/tmp/tmp.U4D0us9tfa/icons/battery-full.png">    </p:cNvPr>
          <p:cNvPicPr>
            <a:picLocks noChangeAspect="1"/>
          </p:cNvPicPr>
          <p:nvPr/>
        </p:nvPicPr>
        <p:blipFill>
          <a:blip r:embed="rId2"/>
          <a:stretch>
            <a:fillRect/>
          </a:stretch>
        </p:blipFill>
        <p:spPr>
          <a:xfrm>
            <a:off x="3520440" y="1554480"/>
            <a:ext cx="201168" cy="201168"/>
          </a:xfrm>
          <a:prstGeom prst="rect">
            <a:avLst/>
          </a:prstGeom>
        </p:spPr>
      </p:pic>
      <p:sp>
        <p:nvSpPr>
          <p:cNvPr id="12" name="cardtext-171"/>
          <p:cNvSpPr txBox="1"/>
          <p:nvPr/>
        </p:nvSpPr>
        <p:spPr>
          <a:xfrm>
            <a:off x="3429000" y="193852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Battery that lasts</a:t>
            </a:r>
            <a:endParaRPr lang="en-US" sz="1500" dirty="0"/>
          </a:p>
          <a:p>
            <a:pPr indent="0" marL="0">
              <a:spcAft>
                <a:spcPts val="300"/>
              </a:spcAft>
              <a:buNone/>
            </a:pPr>
            <a:r>
              <a:rPr lang="en-US" sz="1200" dirty="0">
                <a:solidFill>
                  <a:schemeClr val="tx2"/>
                </a:solidFill>
              </a:rPr>
              <a:t>fast on power, gentle on battery</a:t>
            </a:r>
            <a:endParaRPr lang="en-US" sz="1500" dirty="0"/>
          </a:p>
        </p:txBody>
      </p:sp>
      <p:sp>
        <p:nvSpPr>
          <p:cNvPr id="13" name="card-172"/>
          <p:cNvSpPr/>
          <p:nvPr/>
        </p:nvSpPr>
        <p:spPr>
          <a:xfrm>
            <a:off x="6035040" y="1280160"/>
            <a:ext cx="2651760" cy="1554480"/>
          </a:xfrm>
          <a:prstGeom prst="roundRect">
            <a:avLst>
              <a:gd name="adj" fmla="val 7059"/>
            </a:avLst>
          </a:prstGeom>
          <a:solidFill>
            <a:schemeClr val="bg2"/>
          </a:solidFill>
          <a:ln/>
        </p:spPr>
      </p:sp>
      <p:sp>
        <p:nvSpPr>
          <p:cNvPr id="14" name="dot-173"/>
          <p:cNvSpPr/>
          <p:nvPr/>
        </p:nvSpPr>
        <p:spPr>
          <a:xfrm>
            <a:off x="6217920" y="1463040"/>
            <a:ext cx="384048" cy="384048"/>
          </a:xfrm>
          <a:prstGeom prst="ellipse">
            <a:avLst/>
          </a:prstGeom>
          <a:solidFill>
            <a:schemeClr val="accent1"/>
          </a:solidFill>
          <a:ln/>
        </p:spPr>
      </p:sp>
      <p:pic>
        <p:nvPicPr>
          <p:cNvPr id="15" name="icon-174" descr="/tmp/tmp.U4D0us9tfa/icons/audio-speakers.png">    </p:cNvPr>
          <p:cNvPicPr>
            <a:picLocks noChangeAspect="1"/>
          </p:cNvPicPr>
          <p:nvPr/>
        </p:nvPicPr>
        <p:blipFill>
          <a:blip r:embed="rId3"/>
          <a:stretch>
            <a:fillRect/>
          </a:stretch>
        </p:blipFill>
        <p:spPr>
          <a:xfrm>
            <a:off x="6309360" y="1554480"/>
            <a:ext cx="201168" cy="201168"/>
          </a:xfrm>
          <a:prstGeom prst="rect">
            <a:avLst/>
          </a:prstGeom>
        </p:spPr>
      </p:pic>
      <p:sp>
        <p:nvSpPr>
          <p:cNvPr id="16" name="cardtext-175"/>
          <p:cNvSpPr txBox="1"/>
          <p:nvPr/>
        </p:nvSpPr>
        <p:spPr>
          <a:xfrm>
            <a:off x="6217920" y="193852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Speakers with body</a:t>
            </a:r>
            <a:endParaRPr lang="en-US" sz="1500" dirty="0"/>
          </a:p>
          <a:p>
            <a:pPr indent="0" marL="0">
              <a:spcAft>
                <a:spcPts val="300"/>
              </a:spcAft>
              <a:buNone/>
            </a:pPr>
            <a:r>
              <a:rPr lang="en-US" sz="1200" dirty="0">
                <a:solidFill>
                  <a:schemeClr val="tx2"/>
                </a:solidFill>
              </a:rPr>
              <a:t>warmth, real bass, clearer voices</a:t>
            </a:r>
            <a:endParaRPr lang="en-US" sz="1500" dirty="0"/>
          </a:p>
        </p:txBody>
      </p:sp>
      <p:sp>
        <p:nvSpPr>
          <p:cNvPr id="17" name="card-176"/>
          <p:cNvSpPr/>
          <p:nvPr/>
        </p:nvSpPr>
        <p:spPr>
          <a:xfrm>
            <a:off x="457200" y="2971800"/>
            <a:ext cx="2651760" cy="1554480"/>
          </a:xfrm>
          <a:prstGeom prst="roundRect">
            <a:avLst>
              <a:gd name="adj" fmla="val 7059"/>
            </a:avLst>
          </a:prstGeom>
          <a:solidFill>
            <a:schemeClr val="bg2"/>
          </a:solidFill>
          <a:ln/>
        </p:spPr>
      </p:sp>
      <p:sp>
        <p:nvSpPr>
          <p:cNvPr id="18" name="dot-177"/>
          <p:cNvSpPr/>
          <p:nvPr/>
        </p:nvSpPr>
        <p:spPr>
          <a:xfrm>
            <a:off x="640080" y="3154680"/>
            <a:ext cx="384048" cy="384048"/>
          </a:xfrm>
          <a:prstGeom prst="ellipse">
            <a:avLst/>
          </a:prstGeom>
          <a:solidFill>
            <a:schemeClr val="accent1"/>
          </a:solidFill>
          <a:ln/>
        </p:spPr>
      </p:sp>
      <p:pic>
        <p:nvPicPr>
          <p:cNvPr id="19" name="icon-178" descr="/tmp/tmp.U4D0us9tfa/icons/input-tablet.png">    </p:cNvPr>
          <p:cNvPicPr>
            <a:picLocks noChangeAspect="1"/>
          </p:cNvPicPr>
          <p:nvPr/>
        </p:nvPicPr>
        <p:blipFill>
          <a:blip r:embed="rId4"/>
          <a:stretch>
            <a:fillRect/>
          </a:stretch>
        </p:blipFill>
        <p:spPr>
          <a:xfrm>
            <a:off x="731520" y="3246120"/>
            <a:ext cx="201168" cy="201168"/>
          </a:xfrm>
          <a:prstGeom prst="rect">
            <a:avLst/>
          </a:prstGeom>
        </p:spPr>
      </p:pic>
      <p:sp>
        <p:nvSpPr>
          <p:cNvPr id="20" name="cardtext-179"/>
          <p:cNvSpPr txBox="1"/>
          <p:nvPr/>
        </p:nvSpPr>
        <p:spPr>
          <a:xfrm>
            <a:off x="640080" y="363016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Touch and 2-in-1s</a:t>
            </a:r>
            <a:endParaRPr lang="en-US" sz="1500" dirty="0"/>
          </a:p>
          <a:p>
            <a:pPr indent="0" marL="0">
              <a:spcAft>
                <a:spcPts val="300"/>
              </a:spcAft>
              <a:buNone/>
            </a:pPr>
            <a:r>
              <a:rPr lang="en-US" sz="1200" dirty="0">
                <a:solidFill>
                  <a:schemeClr val="tx2"/>
                </a:solidFill>
              </a:rPr>
              <a:t>rotation, tablet mode, pen</a:t>
            </a:r>
            <a:endParaRPr lang="en-US" sz="1500" dirty="0"/>
          </a:p>
        </p:txBody>
      </p:sp>
      <p:sp>
        <p:nvSpPr>
          <p:cNvPr id="21" name="card-180"/>
          <p:cNvSpPr/>
          <p:nvPr/>
        </p:nvSpPr>
        <p:spPr>
          <a:xfrm>
            <a:off x="3246120" y="2971800"/>
            <a:ext cx="2651760" cy="1554480"/>
          </a:xfrm>
          <a:prstGeom prst="roundRect">
            <a:avLst>
              <a:gd name="adj" fmla="val 7059"/>
            </a:avLst>
          </a:prstGeom>
          <a:solidFill>
            <a:schemeClr val="bg2"/>
          </a:solidFill>
          <a:ln/>
        </p:spPr>
      </p:sp>
      <p:sp>
        <p:nvSpPr>
          <p:cNvPr id="22" name="dot-181"/>
          <p:cNvSpPr/>
          <p:nvPr/>
        </p:nvSpPr>
        <p:spPr>
          <a:xfrm>
            <a:off x="3429000" y="3154680"/>
            <a:ext cx="384048" cy="384048"/>
          </a:xfrm>
          <a:prstGeom prst="ellipse">
            <a:avLst/>
          </a:prstGeom>
          <a:solidFill>
            <a:schemeClr val="accent1"/>
          </a:solidFill>
          <a:ln/>
        </p:spPr>
      </p:sp>
      <p:pic>
        <p:nvPicPr>
          <p:cNvPr id="23" name="icon-182" descr="/tmp/tmp.U4D0us9tfa/icons/video-display.png">    </p:cNvPr>
          <p:cNvPicPr>
            <a:picLocks noChangeAspect="1"/>
          </p:cNvPicPr>
          <p:nvPr/>
        </p:nvPicPr>
        <p:blipFill>
          <a:blip r:embed="rId5"/>
          <a:stretch>
            <a:fillRect/>
          </a:stretch>
        </p:blipFill>
        <p:spPr>
          <a:xfrm>
            <a:off x="3520440" y="3246120"/>
            <a:ext cx="201168" cy="201168"/>
          </a:xfrm>
          <a:prstGeom prst="rect">
            <a:avLst/>
          </a:prstGeom>
        </p:spPr>
      </p:pic>
      <p:sp>
        <p:nvSpPr>
          <p:cNvPr id="24" name="cardtext-183"/>
          <p:cNvSpPr txBox="1"/>
          <p:nvPr/>
        </p:nvSpPr>
        <p:spPr>
          <a:xfrm>
            <a:off x="3429000" y="363016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Right graphics driver</a:t>
            </a:r>
            <a:endParaRPr lang="en-US" sz="1500" dirty="0"/>
          </a:p>
          <a:p>
            <a:pPr indent="0" marL="0">
              <a:spcAft>
                <a:spcPts val="300"/>
              </a:spcAft>
              <a:buNone/>
            </a:pPr>
            <a:r>
              <a:rPr lang="en-US" sz="1200" dirty="0">
                <a:solidFill>
                  <a:schemeClr val="tx2"/>
                </a:solidFill>
              </a:rPr>
              <a:t>hardware video for Intel, AMD, NVIDIA</a:t>
            </a:r>
            <a:endParaRPr lang="en-US" sz="1500" dirty="0"/>
          </a:p>
        </p:txBody>
      </p:sp>
      <p:sp>
        <p:nvSpPr>
          <p:cNvPr id="25" name="card-184"/>
          <p:cNvSpPr/>
          <p:nvPr/>
        </p:nvSpPr>
        <p:spPr>
          <a:xfrm>
            <a:off x="6035040" y="2971800"/>
            <a:ext cx="2651760" cy="1554480"/>
          </a:xfrm>
          <a:prstGeom prst="roundRect">
            <a:avLst>
              <a:gd name="adj" fmla="val 7059"/>
            </a:avLst>
          </a:prstGeom>
          <a:solidFill>
            <a:schemeClr val="bg2"/>
          </a:solidFill>
          <a:ln/>
        </p:spPr>
      </p:sp>
      <p:sp>
        <p:nvSpPr>
          <p:cNvPr id="26" name="dot-185"/>
          <p:cNvSpPr/>
          <p:nvPr/>
        </p:nvSpPr>
        <p:spPr>
          <a:xfrm>
            <a:off x="6217920" y="3154680"/>
            <a:ext cx="384048" cy="384048"/>
          </a:xfrm>
          <a:prstGeom prst="ellipse">
            <a:avLst/>
          </a:prstGeom>
          <a:solidFill>
            <a:schemeClr val="accent1"/>
          </a:solidFill>
          <a:ln/>
        </p:spPr>
      </p:sp>
      <p:pic>
        <p:nvPicPr>
          <p:cNvPr id="27" name="icon-186" descr="/tmp/tmp.U4D0us9tfa/icons/system-run.png">    </p:cNvPr>
          <p:cNvPicPr>
            <a:picLocks noChangeAspect="1"/>
          </p:cNvPicPr>
          <p:nvPr/>
        </p:nvPicPr>
        <p:blipFill>
          <a:blip r:embed="rId6"/>
          <a:stretch>
            <a:fillRect/>
          </a:stretch>
        </p:blipFill>
        <p:spPr>
          <a:xfrm>
            <a:off x="6309360" y="3246120"/>
            <a:ext cx="201168" cy="201168"/>
          </a:xfrm>
          <a:prstGeom prst="rect">
            <a:avLst/>
          </a:prstGeom>
        </p:spPr>
      </p:pic>
      <p:sp>
        <p:nvSpPr>
          <p:cNvPr id="28" name="cardtext-187"/>
          <p:cNvSpPr txBox="1"/>
          <p:nvPr/>
        </p:nvSpPr>
        <p:spPr>
          <a:xfrm>
            <a:off x="6217920" y="3630168"/>
            <a:ext cx="2286000" cy="77724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Older machines too</a:t>
            </a:r>
            <a:endParaRPr lang="en-US" sz="1500" dirty="0"/>
          </a:p>
          <a:p>
            <a:pPr indent="0" marL="0">
              <a:spcAft>
                <a:spcPts val="300"/>
              </a:spcAft>
              <a:buNone/>
            </a:pPr>
            <a:r>
              <a:rPr lang="en-US" sz="1200" dirty="0">
                <a:solidFill>
                  <a:schemeClr val="tx2"/>
                </a:solidFill>
              </a:rPr>
              <a:t>mk effects lite keeps it smooth</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KEYBOARD</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Your hands already know these</a:t>
            </a:r>
            <a:endParaRPr lang="en-US" sz="3000" dirty="0"/>
          </a:p>
        </p:txBody>
      </p:sp>
      <p:sp>
        <p:nvSpPr>
          <p:cNvPr id="5" name="key-188"/>
          <p:cNvSpPr/>
          <p:nvPr/>
        </p:nvSpPr>
        <p:spPr>
          <a:xfrm>
            <a:off x="457200" y="1325880"/>
            <a:ext cx="1325880" cy="365760"/>
          </a:xfrm>
          <a:prstGeom prst="roundRect">
            <a:avLst>
              <a:gd name="adj" fmla="val 20000"/>
            </a:avLst>
          </a:prstGeom>
          <a:solidFill>
            <a:schemeClr val="bg2"/>
          </a:solidFill>
          <a:ln/>
        </p:spPr>
      </p:sp>
      <p:sp>
        <p:nvSpPr>
          <p:cNvPr id="6" name="keytext-189"/>
          <p:cNvSpPr txBox="1"/>
          <p:nvPr/>
        </p:nvSpPr>
        <p:spPr>
          <a:xfrm>
            <a:off x="457200" y="1325880"/>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Super+E</a:t>
            </a:r>
            <a:endParaRPr lang="en-US" sz="1200" dirty="0"/>
          </a:p>
        </p:txBody>
      </p:sp>
      <p:sp>
        <p:nvSpPr>
          <p:cNvPr id="7" name="keylabel-190"/>
          <p:cNvSpPr txBox="1"/>
          <p:nvPr/>
        </p:nvSpPr>
        <p:spPr>
          <a:xfrm>
            <a:off x="1874520" y="1325880"/>
            <a:ext cx="1005840" cy="365760"/>
          </a:xfrm>
          <a:prstGeom prst="rect">
            <a:avLst/>
          </a:prstGeom>
          <a:noFill/>
          <a:ln/>
        </p:spPr>
        <p:txBody>
          <a:bodyPr wrap="square" lIns="0" tIns="0" rIns="0" bIns="0" rtlCol="0" anchor="ctr"/>
          <a:lstStyle/>
          <a:p>
            <a:pPr indent="0" marL="0">
              <a:buNone/>
            </a:pPr>
            <a:r>
              <a:rPr lang="en-US" sz="1200" dirty="0">
                <a:solidFill>
                  <a:schemeClr val="tx1"/>
                </a:solidFill>
              </a:rPr>
              <a:t>Files</a:t>
            </a:r>
            <a:endParaRPr lang="en-US" sz="1200" dirty="0"/>
          </a:p>
        </p:txBody>
      </p:sp>
      <p:sp>
        <p:nvSpPr>
          <p:cNvPr id="8" name="key-191"/>
          <p:cNvSpPr/>
          <p:nvPr/>
        </p:nvSpPr>
        <p:spPr>
          <a:xfrm>
            <a:off x="2926080" y="1325880"/>
            <a:ext cx="1325880" cy="365760"/>
          </a:xfrm>
          <a:prstGeom prst="roundRect">
            <a:avLst>
              <a:gd name="adj" fmla="val 20000"/>
            </a:avLst>
          </a:prstGeom>
          <a:solidFill>
            <a:schemeClr val="bg2"/>
          </a:solidFill>
          <a:ln/>
        </p:spPr>
      </p:sp>
      <p:sp>
        <p:nvSpPr>
          <p:cNvPr id="9" name="keytext-192"/>
          <p:cNvSpPr txBox="1"/>
          <p:nvPr/>
        </p:nvSpPr>
        <p:spPr>
          <a:xfrm>
            <a:off x="2926080" y="1325880"/>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Super+N</a:t>
            </a:r>
            <a:endParaRPr lang="en-US" sz="1200" dirty="0"/>
          </a:p>
        </p:txBody>
      </p:sp>
      <p:sp>
        <p:nvSpPr>
          <p:cNvPr id="10" name="keylabel-193"/>
          <p:cNvSpPr txBox="1"/>
          <p:nvPr/>
        </p:nvSpPr>
        <p:spPr>
          <a:xfrm>
            <a:off x="4343400" y="1325880"/>
            <a:ext cx="1005840" cy="365760"/>
          </a:xfrm>
          <a:prstGeom prst="rect">
            <a:avLst/>
          </a:prstGeom>
          <a:noFill/>
          <a:ln/>
        </p:spPr>
        <p:txBody>
          <a:bodyPr wrap="square" lIns="0" tIns="0" rIns="0" bIns="0" rtlCol="0" anchor="ctr"/>
          <a:lstStyle/>
          <a:p>
            <a:pPr indent="0" marL="0">
              <a:buNone/>
            </a:pPr>
            <a:r>
              <a:rPr lang="en-US" sz="1200" dirty="0">
                <a:solidFill>
                  <a:schemeClr val="tx1"/>
                </a:solidFill>
              </a:rPr>
              <a:t>MK Notes</a:t>
            </a:r>
            <a:endParaRPr lang="en-US" sz="1200" dirty="0"/>
          </a:p>
        </p:txBody>
      </p:sp>
      <p:sp>
        <p:nvSpPr>
          <p:cNvPr id="11" name="key-194"/>
          <p:cNvSpPr/>
          <p:nvPr/>
        </p:nvSpPr>
        <p:spPr>
          <a:xfrm>
            <a:off x="457200" y="1947672"/>
            <a:ext cx="1325880" cy="365760"/>
          </a:xfrm>
          <a:prstGeom prst="roundRect">
            <a:avLst>
              <a:gd name="adj" fmla="val 20000"/>
            </a:avLst>
          </a:prstGeom>
          <a:solidFill>
            <a:schemeClr val="bg2"/>
          </a:solidFill>
          <a:ln/>
        </p:spPr>
      </p:sp>
      <p:sp>
        <p:nvSpPr>
          <p:cNvPr id="12" name="keytext-195"/>
          <p:cNvSpPr txBox="1"/>
          <p:nvPr/>
        </p:nvSpPr>
        <p:spPr>
          <a:xfrm>
            <a:off x="457200" y="1947672"/>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Super+B</a:t>
            </a:r>
            <a:endParaRPr lang="en-US" sz="1200" dirty="0"/>
          </a:p>
        </p:txBody>
      </p:sp>
      <p:sp>
        <p:nvSpPr>
          <p:cNvPr id="13" name="keylabel-196"/>
          <p:cNvSpPr txBox="1"/>
          <p:nvPr/>
        </p:nvSpPr>
        <p:spPr>
          <a:xfrm>
            <a:off x="1874520" y="1947672"/>
            <a:ext cx="1005840" cy="365760"/>
          </a:xfrm>
          <a:prstGeom prst="rect">
            <a:avLst/>
          </a:prstGeom>
          <a:noFill/>
          <a:ln/>
        </p:spPr>
        <p:txBody>
          <a:bodyPr wrap="square" lIns="0" tIns="0" rIns="0" bIns="0" rtlCol="0" anchor="ctr"/>
          <a:lstStyle/>
          <a:p>
            <a:pPr indent="0" marL="0">
              <a:buNone/>
            </a:pPr>
            <a:r>
              <a:rPr lang="en-US" sz="1200" dirty="0">
                <a:solidFill>
                  <a:schemeClr val="tx1"/>
                </a:solidFill>
              </a:rPr>
              <a:t>Web browser</a:t>
            </a:r>
            <a:endParaRPr lang="en-US" sz="1200" dirty="0"/>
          </a:p>
        </p:txBody>
      </p:sp>
      <p:sp>
        <p:nvSpPr>
          <p:cNvPr id="14" name="key-197"/>
          <p:cNvSpPr/>
          <p:nvPr/>
        </p:nvSpPr>
        <p:spPr>
          <a:xfrm>
            <a:off x="2926080" y="1947672"/>
            <a:ext cx="1325880" cy="365760"/>
          </a:xfrm>
          <a:prstGeom prst="roundRect">
            <a:avLst>
              <a:gd name="adj" fmla="val 20000"/>
            </a:avLst>
          </a:prstGeom>
          <a:solidFill>
            <a:schemeClr val="bg2"/>
          </a:solidFill>
          <a:ln/>
        </p:spPr>
      </p:sp>
      <p:sp>
        <p:nvSpPr>
          <p:cNvPr id="15" name="keytext-198"/>
          <p:cNvSpPr txBox="1"/>
          <p:nvPr/>
        </p:nvSpPr>
        <p:spPr>
          <a:xfrm>
            <a:off x="2926080" y="1947672"/>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Super+V</a:t>
            </a:r>
            <a:endParaRPr lang="en-US" sz="1200" dirty="0"/>
          </a:p>
        </p:txBody>
      </p:sp>
      <p:sp>
        <p:nvSpPr>
          <p:cNvPr id="16" name="keylabel-199"/>
          <p:cNvSpPr txBox="1"/>
          <p:nvPr/>
        </p:nvSpPr>
        <p:spPr>
          <a:xfrm>
            <a:off x="4343400" y="1947672"/>
            <a:ext cx="1005840" cy="365760"/>
          </a:xfrm>
          <a:prstGeom prst="rect">
            <a:avLst/>
          </a:prstGeom>
          <a:noFill/>
          <a:ln/>
        </p:spPr>
        <p:txBody>
          <a:bodyPr wrap="square" lIns="0" tIns="0" rIns="0" bIns="0" rtlCol="0" anchor="ctr"/>
          <a:lstStyle/>
          <a:p>
            <a:pPr indent="0" marL="0">
              <a:buNone/>
            </a:pPr>
            <a:r>
              <a:rPr lang="en-US" sz="1200" dirty="0">
                <a:solidFill>
                  <a:schemeClr val="tx1"/>
                </a:solidFill>
              </a:rPr>
              <a:t>Clipboard history</a:t>
            </a:r>
            <a:endParaRPr lang="en-US" sz="1200" dirty="0"/>
          </a:p>
        </p:txBody>
      </p:sp>
      <p:sp>
        <p:nvSpPr>
          <p:cNvPr id="17" name="key-200"/>
          <p:cNvSpPr/>
          <p:nvPr/>
        </p:nvSpPr>
        <p:spPr>
          <a:xfrm>
            <a:off x="457200" y="2569464"/>
            <a:ext cx="1325880" cy="365760"/>
          </a:xfrm>
          <a:prstGeom prst="roundRect">
            <a:avLst>
              <a:gd name="adj" fmla="val 20000"/>
            </a:avLst>
          </a:prstGeom>
          <a:solidFill>
            <a:schemeClr val="bg2"/>
          </a:solidFill>
          <a:ln/>
        </p:spPr>
      </p:sp>
      <p:sp>
        <p:nvSpPr>
          <p:cNvPr id="18" name="keytext-201"/>
          <p:cNvSpPr txBox="1"/>
          <p:nvPr/>
        </p:nvSpPr>
        <p:spPr>
          <a:xfrm>
            <a:off x="457200" y="2569464"/>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Super+Shift+S</a:t>
            </a:r>
            <a:endParaRPr lang="en-US" sz="1200" dirty="0"/>
          </a:p>
        </p:txBody>
      </p:sp>
      <p:sp>
        <p:nvSpPr>
          <p:cNvPr id="19" name="keylabel-202"/>
          <p:cNvSpPr txBox="1"/>
          <p:nvPr/>
        </p:nvSpPr>
        <p:spPr>
          <a:xfrm>
            <a:off x="1874520" y="2569464"/>
            <a:ext cx="1005840" cy="365760"/>
          </a:xfrm>
          <a:prstGeom prst="rect">
            <a:avLst/>
          </a:prstGeom>
          <a:noFill/>
          <a:ln/>
        </p:spPr>
        <p:txBody>
          <a:bodyPr wrap="square" lIns="0" tIns="0" rIns="0" bIns="0" rtlCol="0" anchor="ctr"/>
          <a:lstStyle/>
          <a:p>
            <a:pPr indent="0" marL="0">
              <a:buNone/>
            </a:pPr>
            <a:r>
              <a:rPr lang="en-US" sz="1200" dirty="0">
                <a:solidFill>
                  <a:schemeClr val="tx1"/>
                </a:solidFill>
              </a:rPr>
              <a:t>Screenshot an area</a:t>
            </a:r>
            <a:endParaRPr lang="en-US" sz="1200" dirty="0"/>
          </a:p>
        </p:txBody>
      </p:sp>
      <p:sp>
        <p:nvSpPr>
          <p:cNvPr id="20" name="key-203"/>
          <p:cNvSpPr/>
          <p:nvPr/>
        </p:nvSpPr>
        <p:spPr>
          <a:xfrm>
            <a:off x="2926080" y="2569464"/>
            <a:ext cx="1325880" cy="365760"/>
          </a:xfrm>
          <a:prstGeom prst="roundRect">
            <a:avLst>
              <a:gd name="adj" fmla="val 20000"/>
            </a:avLst>
          </a:prstGeom>
          <a:solidFill>
            <a:schemeClr val="bg2"/>
          </a:solidFill>
          <a:ln/>
        </p:spPr>
      </p:sp>
      <p:sp>
        <p:nvSpPr>
          <p:cNvPr id="21" name="keytext-204"/>
          <p:cNvSpPr txBox="1"/>
          <p:nvPr/>
        </p:nvSpPr>
        <p:spPr>
          <a:xfrm>
            <a:off x="2926080" y="2569464"/>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Super+Z</a:t>
            </a:r>
            <a:endParaRPr lang="en-US" sz="1200" dirty="0"/>
          </a:p>
        </p:txBody>
      </p:sp>
      <p:sp>
        <p:nvSpPr>
          <p:cNvPr id="22" name="keylabel-205"/>
          <p:cNvSpPr txBox="1"/>
          <p:nvPr/>
        </p:nvSpPr>
        <p:spPr>
          <a:xfrm>
            <a:off x="4343400" y="2569464"/>
            <a:ext cx="1005840" cy="365760"/>
          </a:xfrm>
          <a:prstGeom prst="rect">
            <a:avLst/>
          </a:prstGeom>
          <a:noFill/>
          <a:ln/>
        </p:spPr>
        <p:txBody>
          <a:bodyPr wrap="square" lIns="0" tIns="0" rIns="0" bIns="0" rtlCol="0" anchor="ctr"/>
          <a:lstStyle/>
          <a:p>
            <a:pPr indent="0" marL="0">
              <a:buNone/>
            </a:pPr>
            <a:r>
              <a:rPr lang="en-US" sz="1200" dirty="0">
                <a:solidFill>
                  <a:schemeClr val="tx1"/>
                </a:solidFill>
              </a:rPr>
              <a:t>Snap layouts</a:t>
            </a:r>
            <a:endParaRPr lang="en-US" sz="1200" dirty="0"/>
          </a:p>
        </p:txBody>
      </p:sp>
      <p:sp>
        <p:nvSpPr>
          <p:cNvPr id="23" name="key-206"/>
          <p:cNvSpPr/>
          <p:nvPr/>
        </p:nvSpPr>
        <p:spPr>
          <a:xfrm>
            <a:off x="457200" y="3191256"/>
            <a:ext cx="1325880" cy="365760"/>
          </a:xfrm>
          <a:prstGeom prst="roundRect">
            <a:avLst>
              <a:gd name="adj" fmla="val 20000"/>
            </a:avLst>
          </a:prstGeom>
          <a:solidFill>
            <a:schemeClr val="bg2"/>
          </a:solidFill>
          <a:ln/>
        </p:spPr>
      </p:sp>
      <p:sp>
        <p:nvSpPr>
          <p:cNvPr id="24" name="keytext-207"/>
          <p:cNvSpPr txBox="1"/>
          <p:nvPr/>
        </p:nvSpPr>
        <p:spPr>
          <a:xfrm>
            <a:off x="457200" y="3191256"/>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Ctrl+Shift+Esc</a:t>
            </a:r>
            <a:endParaRPr lang="en-US" sz="1200" dirty="0"/>
          </a:p>
        </p:txBody>
      </p:sp>
      <p:sp>
        <p:nvSpPr>
          <p:cNvPr id="25" name="keylabel-208"/>
          <p:cNvSpPr txBox="1"/>
          <p:nvPr/>
        </p:nvSpPr>
        <p:spPr>
          <a:xfrm>
            <a:off x="1874520" y="3191256"/>
            <a:ext cx="1005840" cy="365760"/>
          </a:xfrm>
          <a:prstGeom prst="rect">
            <a:avLst/>
          </a:prstGeom>
          <a:noFill/>
          <a:ln/>
        </p:spPr>
        <p:txBody>
          <a:bodyPr wrap="square" lIns="0" tIns="0" rIns="0" bIns="0" rtlCol="0" anchor="ctr"/>
          <a:lstStyle/>
          <a:p>
            <a:pPr indent="0" marL="0">
              <a:buNone/>
            </a:pPr>
            <a:r>
              <a:rPr lang="en-US" sz="1200" dirty="0">
                <a:solidFill>
                  <a:schemeClr val="tx1"/>
                </a:solidFill>
              </a:rPr>
              <a:t>System Monitor</a:t>
            </a:r>
            <a:endParaRPr lang="en-US" sz="1200" dirty="0"/>
          </a:p>
        </p:txBody>
      </p:sp>
      <p:sp>
        <p:nvSpPr>
          <p:cNvPr id="26" name="key-209"/>
          <p:cNvSpPr/>
          <p:nvPr/>
        </p:nvSpPr>
        <p:spPr>
          <a:xfrm>
            <a:off x="2926080" y="3191256"/>
            <a:ext cx="1325880" cy="365760"/>
          </a:xfrm>
          <a:prstGeom prst="roundRect">
            <a:avLst>
              <a:gd name="adj" fmla="val 20000"/>
            </a:avLst>
          </a:prstGeom>
          <a:solidFill>
            <a:schemeClr val="bg2"/>
          </a:solidFill>
          <a:ln/>
        </p:spPr>
      </p:sp>
      <p:sp>
        <p:nvSpPr>
          <p:cNvPr id="27" name="keytext-210"/>
          <p:cNvSpPr txBox="1"/>
          <p:nvPr/>
        </p:nvSpPr>
        <p:spPr>
          <a:xfrm>
            <a:off x="2926080" y="3191256"/>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Super+L</a:t>
            </a:r>
            <a:endParaRPr lang="en-US" sz="1200" dirty="0"/>
          </a:p>
        </p:txBody>
      </p:sp>
      <p:sp>
        <p:nvSpPr>
          <p:cNvPr id="28" name="keylabel-211"/>
          <p:cNvSpPr txBox="1"/>
          <p:nvPr/>
        </p:nvSpPr>
        <p:spPr>
          <a:xfrm>
            <a:off x="4343400" y="3191256"/>
            <a:ext cx="1005840" cy="365760"/>
          </a:xfrm>
          <a:prstGeom prst="rect">
            <a:avLst/>
          </a:prstGeom>
          <a:noFill/>
          <a:ln/>
        </p:spPr>
        <p:txBody>
          <a:bodyPr wrap="square" lIns="0" tIns="0" rIns="0" bIns="0" rtlCol="0" anchor="ctr"/>
          <a:lstStyle/>
          <a:p>
            <a:pPr indent="0" marL="0">
              <a:buNone/>
            </a:pPr>
            <a:r>
              <a:rPr lang="en-US" sz="1200" dirty="0">
                <a:solidFill>
                  <a:schemeClr val="tx1"/>
                </a:solidFill>
              </a:rPr>
              <a:t>Lock</a:t>
            </a:r>
            <a:endParaRPr lang="en-US" sz="1200" dirty="0"/>
          </a:p>
        </p:txBody>
      </p:sp>
      <p:sp>
        <p:nvSpPr>
          <p:cNvPr id="29" name="key-212"/>
          <p:cNvSpPr/>
          <p:nvPr/>
        </p:nvSpPr>
        <p:spPr>
          <a:xfrm>
            <a:off x="457200" y="3813048"/>
            <a:ext cx="1325880" cy="365760"/>
          </a:xfrm>
          <a:prstGeom prst="roundRect">
            <a:avLst>
              <a:gd name="adj" fmla="val 20000"/>
            </a:avLst>
          </a:prstGeom>
          <a:solidFill>
            <a:schemeClr val="bg2"/>
          </a:solidFill>
          <a:ln/>
        </p:spPr>
      </p:sp>
      <p:sp>
        <p:nvSpPr>
          <p:cNvPr id="30" name="keytext-213"/>
          <p:cNvSpPr txBox="1"/>
          <p:nvPr/>
        </p:nvSpPr>
        <p:spPr>
          <a:xfrm>
            <a:off x="457200" y="3813048"/>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Ctrl+Alt+End</a:t>
            </a:r>
            <a:endParaRPr lang="en-US" sz="1200" dirty="0"/>
          </a:p>
        </p:txBody>
      </p:sp>
      <p:sp>
        <p:nvSpPr>
          <p:cNvPr id="31" name="keylabel-214"/>
          <p:cNvSpPr txBox="1"/>
          <p:nvPr/>
        </p:nvSpPr>
        <p:spPr>
          <a:xfrm>
            <a:off x="1874520" y="3813048"/>
            <a:ext cx="1005840" cy="365760"/>
          </a:xfrm>
          <a:prstGeom prst="rect">
            <a:avLst/>
          </a:prstGeom>
          <a:noFill/>
          <a:ln/>
        </p:spPr>
        <p:txBody>
          <a:bodyPr wrap="square" lIns="0" tIns="0" rIns="0" bIns="0" rtlCol="0" anchor="ctr"/>
          <a:lstStyle/>
          <a:p>
            <a:pPr indent="0" marL="0">
              <a:buNone/>
            </a:pPr>
            <a:r>
              <a:rPr lang="en-US" sz="1200" dirty="0">
                <a:solidFill>
                  <a:schemeClr val="tx1"/>
                </a:solidFill>
              </a:rPr>
              <a:t>Shut down</a:t>
            </a:r>
            <a:endParaRPr lang="en-US" sz="1200" dirty="0"/>
          </a:p>
        </p:txBody>
      </p:sp>
      <p:sp>
        <p:nvSpPr>
          <p:cNvPr id="32" name="key-215"/>
          <p:cNvSpPr/>
          <p:nvPr/>
        </p:nvSpPr>
        <p:spPr>
          <a:xfrm>
            <a:off x="2926080" y="3813048"/>
            <a:ext cx="1325880" cy="365760"/>
          </a:xfrm>
          <a:prstGeom prst="roundRect">
            <a:avLst>
              <a:gd name="adj" fmla="val 20000"/>
            </a:avLst>
          </a:prstGeom>
          <a:solidFill>
            <a:schemeClr val="bg2"/>
          </a:solidFill>
          <a:ln/>
        </p:spPr>
      </p:sp>
      <p:sp>
        <p:nvSpPr>
          <p:cNvPr id="33" name="keytext-216"/>
          <p:cNvSpPr txBox="1"/>
          <p:nvPr/>
        </p:nvSpPr>
        <p:spPr>
          <a:xfrm>
            <a:off x="2926080" y="3813048"/>
            <a:ext cx="1325880" cy="365760"/>
          </a:xfrm>
          <a:prstGeom prst="rect">
            <a:avLst/>
          </a:prstGeom>
          <a:noFill/>
          <a:ln/>
        </p:spPr>
        <p:txBody>
          <a:bodyPr wrap="square" lIns="0" tIns="0" rIns="0" bIns="0" rtlCol="0" anchor="ctr"/>
          <a:lstStyle/>
          <a:p>
            <a:pPr algn="ctr" indent="0" marL="0">
              <a:buNone/>
            </a:pPr>
            <a:r>
              <a:rPr lang="en-US" sz="1200" b="1" dirty="0">
                <a:solidFill>
                  <a:schemeClr val="accent1"/>
                </a:solidFill>
              </a:rPr>
              <a:t>Ctrl+Alt+Home</a:t>
            </a:r>
            <a:endParaRPr lang="en-US" sz="1200" dirty="0"/>
          </a:p>
        </p:txBody>
      </p:sp>
      <p:sp>
        <p:nvSpPr>
          <p:cNvPr id="34" name="keylabel-217"/>
          <p:cNvSpPr txBox="1"/>
          <p:nvPr/>
        </p:nvSpPr>
        <p:spPr>
          <a:xfrm>
            <a:off x="4343400" y="3813048"/>
            <a:ext cx="1005840" cy="365760"/>
          </a:xfrm>
          <a:prstGeom prst="rect">
            <a:avLst/>
          </a:prstGeom>
          <a:noFill/>
          <a:ln/>
        </p:spPr>
        <p:txBody>
          <a:bodyPr wrap="square" lIns="0" tIns="0" rIns="0" bIns="0" rtlCol="0" anchor="ctr"/>
          <a:lstStyle/>
          <a:p>
            <a:pPr indent="0" marL="0">
              <a:buNone/>
            </a:pPr>
            <a:r>
              <a:rPr lang="en-US" sz="1200" dirty="0">
                <a:solidFill>
                  <a:schemeClr val="tx1"/>
                </a:solidFill>
              </a:rPr>
              <a:t>Restart</a:t>
            </a:r>
            <a:endParaRPr lang="en-US" sz="1200" dirty="0"/>
          </a:p>
        </p:txBody>
      </p:sp>
      <p:pic>
        <p:nvPicPr>
          <p:cNvPr id="35" name="shortcuts" descr="/tmp/tmp.U4D0us9tfa/img/shortcuts.jpg">    </p:cNvPr>
          <p:cNvPicPr>
            <a:picLocks noChangeAspect="1"/>
          </p:cNvPicPr>
          <p:nvPr/>
        </p:nvPicPr>
        <p:blipFill>
          <a:blip r:embed="rId1"/>
          <a:stretch>
            <a:fillRect/>
          </a:stretch>
        </p:blipFill>
        <p:spPr>
          <a:xfrm>
            <a:off x="5486400" y="1280160"/>
            <a:ext cx="3154680" cy="3182112"/>
          </a:xfrm>
          <a:prstGeom prst="rect">
            <a:avLst/>
          </a:prstGeom>
          <a:effectLst>
            <a:outerShdw sx="100000" sy="100000" kx="0" ky="0" algn="bl" rotWithShape="0" blurRad="127000" dist="38100" dir="5400000">
              <a:srgbClr val="0B1430">
                <a:alpha val="18000"/>
              </a:srgbClr>
            </a:outerShdw>
          </a:effectLst>
        </p:spPr>
      </p:pic>
      <p:sp>
        <p:nvSpPr>
          <p:cNvPr id="36" name="caption-218"/>
          <p:cNvSpPr txBox="1"/>
          <p:nvPr/>
        </p:nvSpPr>
        <p:spPr>
          <a:xfrm>
            <a:off x="5486400" y="4498848"/>
            <a:ext cx="3200400" cy="274320"/>
          </a:xfrm>
          <a:prstGeom prst="rect">
            <a:avLst/>
          </a:prstGeom>
          <a:noFill/>
          <a:ln/>
        </p:spPr>
        <p:txBody>
          <a:bodyPr wrap="square" lIns="0" tIns="0" rIns="0" bIns="0" rtlCol="0" anchor="ctr"/>
          <a:lstStyle/>
          <a:p>
            <a:pPr indent="0" marL="0">
              <a:buNone/>
            </a:pPr>
            <a:r>
              <a:rPr lang="en-US" sz="1000" i="1" dirty="0">
                <a:solidFill>
                  <a:schemeClr val="tx2"/>
                </a:solidFill>
              </a:rPr>
              <a:t>Super+/ shows every shortcut, live, and lets you change any key</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NO RISK</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Try it, change your mind, nothing breaks</a:t>
            </a:r>
            <a:endParaRPr lang="en-US" sz="3000" dirty="0"/>
          </a:p>
        </p:txBody>
      </p:sp>
      <p:sp>
        <p:nvSpPr>
          <p:cNvPr id="5" name="dot-219"/>
          <p:cNvSpPr/>
          <p:nvPr/>
        </p:nvSpPr>
        <p:spPr>
          <a:xfrm>
            <a:off x="457200" y="1344168"/>
            <a:ext cx="384048" cy="384048"/>
          </a:xfrm>
          <a:prstGeom prst="ellipse">
            <a:avLst/>
          </a:prstGeom>
          <a:solidFill>
            <a:schemeClr val="accent1"/>
          </a:solidFill>
          <a:ln/>
        </p:spPr>
      </p:sp>
      <p:pic>
        <p:nvPicPr>
          <p:cNvPr id="6" name="icon-220" descr="/tmp/tmp.U4D0us9tfa/icons/document-open-recent.png">    </p:cNvPr>
          <p:cNvPicPr>
            <a:picLocks noChangeAspect="1"/>
          </p:cNvPicPr>
          <p:nvPr/>
        </p:nvPicPr>
        <p:blipFill>
          <a:blip r:embed="rId1"/>
          <a:stretch>
            <a:fillRect/>
          </a:stretch>
        </p:blipFill>
        <p:spPr>
          <a:xfrm>
            <a:off x="548640" y="1435608"/>
            <a:ext cx="201168" cy="201168"/>
          </a:xfrm>
          <a:prstGeom prst="rect">
            <a:avLst/>
          </a:prstGeom>
        </p:spPr>
      </p:pic>
      <p:sp>
        <p:nvSpPr>
          <p:cNvPr id="7" name="row-221"/>
          <p:cNvSpPr txBox="1"/>
          <p:nvPr/>
        </p:nvSpPr>
        <p:spPr>
          <a:xfrm>
            <a:off x="960120" y="1289304"/>
            <a:ext cx="43434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A snapshot every time</a:t>
            </a:r>
            <a:endParaRPr lang="en-US" sz="1400" dirty="0"/>
          </a:p>
          <a:p>
            <a:pPr indent="0" marL="0">
              <a:spcAft>
                <a:spcPts val="100"/>
              </a:spcAft>
              <a:buNone/>
            </a:pPr>
            <a:r>
              <a:rPr lang="en-US" sz="1400" dirty="0">
                <a:solidFill>
                  <a:schemeClr val="tx2"/>
                </a:solidFill>
              </a:rPr>
              <a:t>mk restore puts your settings back</a:t>
            </a:r>
            <a:endParaRPr lang="en-US" sz="1400" dirty="0"/>
          </a:p>
        </p:txBody>
      </p:sp>
      <p:sp>
        <p:nvSpPr>
          <p:cNvPr id="8" name="dot-222"/>
          <p:cNvSpPr/>
          <p:nvPr/>
        </p:nvSpPr>
        <p:spPr>
          <a:xfrm>
            <a:off x="457200" y="2029968"/>
            <a:ext cx="384048" cy="384048"/>
          </a:xfrm>
          <a:prstGeom prst="ellipse">
            <a:avLst/>
          </a:prstGeom>
          <a:solidFill>
            <a:schemeClr val="accent1"/>
          </a:solidFill>
          <a:ln/>
        </p:spPr>
      </p:sp>
      <p:pic>
        <p:nvPicPr>
          <p:cNvPr id="9" name="icon-223" descr="/tmp/tmp.U4D0us9tfa/icons/user-trash.png">    </p:cNvPr>
          <p:cNvPicPr>
            <a:picLocks noChangeAspect="1"/>
          </p:cNvPicPr>
          <p:nvPr/>
        </p:nvPicPr>
        <p:blipFill>
          <a:blip r:embed="rId2"/>
          <a:stretch>
            <a:fillRect/>
          </a:stretch>
        </p:blipFill>
        <p:spPr>
          <a:xfrm>
            <a:off x="548640" y="2121408"/>
            <a:ext cx="201168" cy="201168"/>
          </a:xfrm>
          <a:prstGeom prst="rect">
            <a:avLst/>
          </a:prstGeom>
        </p:spPr>
      </p:pic>
      <p:sp>
        <p:nvSpPr>
          <p:cNvPr id="10" name="row-224"/>
          <p:cNvSpPr txBox="1"/>
          <p:nvPr/>
        </p:nvSpPr>
        <p:spPr>
          <a:xfrm>
            <a:off x="960120" y="1975104"/>
            <a:ext cx="43434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One-line uninstall</a:t>
            </a:r>
            <a:endParaRPr lang="en-US" sz="1400" dirty="0"/>
          </a:p>
          <a:p>
            <a:pPr indent="0" marL="0">
              <a:spcAft>
                <a:spcPts val="100"/>
              </a:spcAft>
              <a:buNone/>
            </a:pPr>
            <a:r>
              <a:rPr lang="en-US" sz="1400" dirty="0">
                <a:solidFill>
                  <a:schemeClr val="tx2"/>
                </a:solidFill>
              </a:rPr>
              <a:t>mk uninstall removes MK's tools</a:t>
            </a:r>
            <a:endParaRPr lang="en-US" sz="1400" dirty="0"/>
          </a:p>
        </p:txBody>
      </p:sp>
      <p:sp>
        <p:nvSpPr>
          <p:cNvPr id="11" name="dot-225"/>
          <p:cNvSpPr/>
          <p:nvPr/>
        </p:nvSpPr>
        <p:spPr>
          <a:xfrm>
            <a:off x="457200" y="2715768"/>
            <a:ext cx="384048" cy="384048"/>
          </a:xfrm>
          <a:prstGeom prst="ellipse">
            <a:avLst/>
          </a:prstGeom>
          <a:solidFill>
            <a:schemeClr val="accent1"/>
          </a:solidFill>
          <a:ln/>
        </p:spPr>
      </p:sp>
      <p:pic>
        <p:nvPicPr>
          <p:cNvPr id="12" name="icon-226" descr="/tmp/tmp.U4D0us9tfa/icons/checkbox-checked.png">    </p:cNvPr>
          <p:cNvPicPr>
            <a:picLocks noChangeAspect="1"/>
          </p:cNvPicPr>
          <p:nvPr/>
        </p:nvPicPr>
        <p:blipFill>
          <a:blip r:embed="rId3"/>
          <a:stretch>
            <a:fillRect/>
          </a:stretch>
        </p:blipFill>
        <p:spPr>
          <a:xfrm>
            <a:off x="548640" y="2807208"/>
            <a:ext cx="201168" cy="201168"/>
          </a:xfrm>
          <a:prstGeom prst="rect">
            <a:avLst/>
          </a:prstGeom>
        </p:spPr>
      </p:pic>
      <p:sp>
        <p:nvSpPr>
          <p:cNvPr id="13" name="row-227"/>
          <p:cNvSpPr txBox="1"/>
          <p:nvPr/>
        </p:nvSpPr>
        <p:spPr>
          <a:xfrm>
            <a:off x="960120" y="2660904"/>
            <a:ext cx="43434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Health check</a:t>
            </a:r>
            <a:endParaRPr lang="en-US" sz="1400" dirty="0"/>
          </a:p>
          <a:p>
            <a:pPr indent="0" marL="0">
              <a:spcAft>
                <a:spcPts val="100"/>
              </a:spcAft>
              <a:buNone/>
            </a:pPr>
            <a:r>
              <a:rPr lang="en-US" sz="1400" dirty="0">
                <a:solidFill>
                  <a:schemeClr val="tx2"/>
                </a:solidFill>
              </a:rPr>
              <a:t>mk doctor finds problems and says how to fix them</a:t>
            </a:r>
            <a:endParaRPr lang="en-US" sz="1400" dirty="0"/>
          </a:p>
        </p:txBody>
      </p:sp>
      <p:sp>
        <p:nvSpPr>
          <p:cNvPr id="14" name="dot-228"/>
          <p:cNvSpPr/>
          <p:nvPr/>
        </p:nvSpPr>
        <p:spPr>
          <a:xfrm>
            <a:off x="457200" y="3401568"/>
            <a:ext cx="384048" cy="384048"/>
          </a:xfrm>
          <a:prstGeom prst="ellipse">
            <a:avLst/>
          </a:prstGeom>
          <a:solidFill>
            <a:schemeClr val="accent1"/>
          </a:solidFill>
          <a:ln/>
        </p:spPr>
      </p:sp>
      <p:pic>
        <p:nvPicPr>
          <p:cNvPr id="15" name="icon-229" descr="/tmp/tmp.U4D0us9tfa/icons/x-office-document.png">    </p:cNvPr>
          <p:cNvPicPr>
            <a:picLocks noChangeAspect="1"/>
          </p:cNvPicPr>
          <p:nvPr/>
        </p:nvPicPr>
        <p:blipFill>
          <a:blip r:embed="rId4"/>
          <a:stretch>
            <a:fillRect/>
          </a:stretch>
        </p:blipFill>
        <p:spPr>
          <a:xfrm>
            <a:off x="548640" y="3493008"/>
            <a:ext cx="201168" cy="201168"/>
          </a:xfrm>
          <a:prstGeom prst="rect">
            <a:avLst/>
          </a:prstGeom>
        </p:spPr>
      </p:pic>
      <p:sp>
        <p:nvSpPr>
          <p:cNvPr id="16" name="row-230"/>
          <p:cNvSpPr txBox="1"/>
          <p:nvPr/>
        </p:nvSpPr>
        <p:spPr>
          <a:xfrm>
            <a:off x="960120" y="3346704"/>
            <a:ext cx="43434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Readable</a:t>
            </a:r>
            <a:endParaRPr lang="en-US" sz="1400" dirty="0"/>
          </a:p>
          <a:p>
            <a:pPr indent="0" marL="0">
              <a:spcAft>
                <a:spcPts val="100"/>
              </a:spcAft>
              <a:buNone/>
            </a:pPr>
            <a:r>
              <a:rPr lang="en-US" sz="1400" dirty="0">
                <a:solidFill>
                  <a:schemeClr val="tx2"/>
                </a:solidFill>
              </a:rPr>
              <a:t>plain shell and Python, every change in git</a:t>
            </a:r>
            <a:endParaRPr lang="en-US" sz="1400" dirty="0"/>
          </a:p>
        </p:txBody>
      </p:sp>
      <p:sp>
        <p:nvSpPr>
          <p:cNvPr id="17" name="dot-231"/>
          <p:cNvSpPr/>
          <p:nvPr/>
        </p:nvSpPr>
        <p:spPr>
          <a:xfrm>
            <a:off x="457200" y="4087368"/>
            <a:ext cx="384048" cy="384048"/>
          </a:xfrm>
          <a:prstGeom prst="ellipse">
            <a:avLst/>
          </a:prstGeom>
          <a:solidFill>
            <a:schemeClr val="accent1"/>
          </a:solidFill>
          <a:ln/>
        </p:spPr>
      </p:sp>
      <p:pic>
        <p:nvPicPr>
          <p:cNvPr id="18" name="icon-232" descr="/tmp/tmp.U4D0us9tfa/icons/software-update-available.png">    </p:cNvPr>
          <p:cNvPicPr>
            <a:picLocks noChangeAspect="1"/>
          </p:cNvPicPr>
          <p:nvPr/>
        </p:nvPicPr>
        <p:blipFill>
          <a:blip r:embed="rId5"/>
          <a:stretch>
            <a:fillRect/>
          </a:stretch>
        </p:blipFill>
        <p:spPr>
          <a:xfrm>
            <a:off x="548640" y="4178808"/>
            <a:ext cx="201168" cy="201168"/>
          </a:xfrm>
          <a:prstGeom prst="rect">
            <a:avLst/>
          </a:prstGeom>
        </p:spPr>
      </p:pic>
      <p:sp>
        <p:nvSpPr>
          <p:cNvPr id="19" name="row-233"/>
          <p:cNvSpPr txBox="1"/>
          <p:nvPr/>
        </p:nvSpPr>
        <p:spPr>
          <a:xfrm>
            <a:off x="960120" y="4032504"/>
            <a:ext cx="4343400" cy="566928"/>
          </a:xfrm>
          <a:prstGeom prst="rect">
            <a:avLst/>
          </a:prstGeom>
          <a:noFill/>
          <a:ln/>
        </p:spPr>
        <p:txBody>
          <a:bodyPr wrap="square" lIns="0" tIns="0" rIns="0" bIns="0" rtlCol="0" anchor="t"/>
          <a:lstStyle/>
          <a:p>
            <a:pPr indent="0" marL="0">
              <a:spcAft>
                <a:spcPts val="100"/>
              </a:spcAft>
              <a:buNone/>
            </a:pPr>
            <a:r>
              <a:rPr lang="en-US" sz="1400" b="1" dirty="0">
                <a:solidFill>
                  <a:schemeClr val="tx1"/>
                </a:solidFill>
              </a:rPr>
              <a:t>One update</a:t>
            </a:r>
            <a:endParaRPr lang="en-US" sz="1400" dirty="0"/>
          </a:p>
          <a:p>
            <a:pPr indent="0" marL="0">
              <a:spcAft>
                <a:spcPts val="100"/>
              </a:spcAft>
              <a:buNone/>
            </a:pPr>
            <a:r>
              <a:rPr lang="en-US" sz="1400" dirty="0">
                <a:solidFill>
                  <a:schemeClr val="tx2"/>
                </a:solidFill>
              </a:rPr>
              <a:t>mk update does system, apps and settings</a:t>
            </a:r>
            <a:endParaRPr lang="en-US" sz="1400" dirty="0"/>
          </a:p>
        </p:txBody>
      </p:sp>
      <p:pic>
        <p:nvPicPr>
          <p:cNvPr id="20" name="companion" descr="/tmp/tmp.U4D0us9tfa/img/companion.jpg">    </p:cNvPr>
          <p:cNvPicPr>
            <a:picLocks noChangeAspect="1"/>
          </p:cNvPicPr>
          <p:nvPr/>
        </p:nvPicPr>
        <p:blipFill>
          <a:blip r:embed="rId6"/>
          <a:stretch>
            <a:fillRect/>
          </a:stretch>
        </p:blipFill>
        <p:spPr>
          <a:xfrm>
            <a:off x="6035040" y="1234440"/>
            <a:ext cx="2331720" cy="3172968"/>
          </a:xfrm>
          <a:prstGeom prst="rect">
            <a:avLst/>
          </a:prstGeom>
          <a:effectLst>
            <a:outerShdw sx="100000" sy="100000" kx="0" ky="0" algn="bl" rotWithShape="0" blurRad="127000" dist="38100" dir="5400000">
              <a:srgbClr val="0B1430">
                <a:alpha val="18000"/>
              </a:srgbClr>
            </a:outerShdw>
          </a:effectLst>
        </p:spPr>
      </p:pic>
      <p:sp>
        <p:nvSpPr>
          <p:cNvPr id="21" name="caption-234"/>
          <p:cNvSpPr txBox="1"/>
          <p:nvPr/>
        </p:nvSpPr>
        <p:spPr>
          <a:xfrm>
            <a:off x="5760720" y="4462272"/>
            <a:ext cx="2926080" cy="274320"/>
          </a:xfrm>
          <a:prstGeom prst="rect">
            <a:avLst/>
          </a:prstGeom>
          <a:noFill/>
          <a:ln/>
        </p:spPr>
        <p:txBody>
          <a:bodyPr wrap="square" lIns="0" tIns="0" rIns="0" bIns="0" rtlCol="0" anchor="ctr"/>
          <a:lstStyle/>
          <a:p>
            <a:pPr indent="0" marL="0">
              <a:buNone/>
            </a:pPr>
            <a:r>
              <a:rPr lang="en-US" sz="1000" i="1" dirty="0">
                <a:solidFill>
                  <a:schemeClr val="tx2"/>
                </a:solidFill>
              </a:rPr>
              <a:t>The Companion: quick notes, tasks, reminders</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8046720" cy="274320"/>
          </a:xfrm>
          <a:prstGeom prst="rect">
            <a:avLst/>
          </a:prstGeom>
          <a:noFill/>
          <a:ln/>
        </p:spPr>
        <p:txBody>
          <a:bodyPr wrap="square" lIns="0" tIns="0" rIns="0" bIns="0" rtlCol="0"/>
          <a:lstStyle/>
          <a:p>
            <a:pPr indent="0" marL="0">
              <a:buNone/>
            </a:pPr>
            <a:r>
              <a:rPr lang="en-US" sz="1100" b="1" spc="200" kern="0" dirty="0">
                <a:solidFill>
                  <a:schemeClr val="accent2"/>
                </a:solidFill>
              </a:rPr>
              <a:t>GET STARTED</a:t>
            </a:r>
            <a:endParaRPr lang="en-US" sz="1100" dirty="0"/>
          </a:p>
        </p:txBody>
      </p:sp>
      <p:sp>
        <p:nvSpPr>
          <p:cNvPr id="3" name="Text 0"/>
          <p:cNvSpPr/>
          <p:nvPr>
            <p:ph idx="101" type="title" hasCustomPrompt="1"/>
          </p:nvPr>
        </p:nvSpPr>
        <p:spPr>
          <a:xfrm>
            <a:off x="548640" y="731520"/>
            <a:ext cx="8046720" cy="731520"/>
          </a:xfrm>
          <a:prstGeom prst="rect">
            <a:avLst/>
          </a:prstGeom>
          <a:noFill/>
          <a:ln/>
        </p:spPr>
        <p:txBody>
          <a:bodyPr wrap="square" lIns="0" tIns="0" rIns="0" bIns="0" rtlCol="0" anchor="t"/>
          <a:lstStyle/>
          <a:p>
            <a:pPr algn="l" indent="0" marL="0">
              <a:buNone/>
            </a:pPr>
            <a:r>
              <a:rPr lang="en-US" sz="3200" b="1" dirty="0">
                <a:solidFill>
                  <a:schemeClr val="bg1"/>
                </a:solidFill>
              </a:rPr>
              <a:t>Get it in three commands</a:t>
            </a:r>
            <a:endParaRPr lang="en-US" sz="3200" dirty="0"/>
          </a:p>
        </p:txBody>
      </p:sp>
      <p:sp>
        <p:nvSpPr>
          <p:cNvPr id="4" name="cmdbox-235"/>
          <p:cNvSpPr/>
          <p:nvPr/>
        </p:nvSpPr>
        <p:spPr>
          <a:xfrm>
            <a:off x="548640" y="1691640"/>
            <a:ext cx="8046720" cy="512064"/>
          </a:xfrm>
          <a:prstGeom prst="roundRect">
            <a:avLst>
              <a:gd name="adj" fmla="val 17857"/>
            </a:avLst>
          </a:prstGeom>
          <a:solidFill>
            <a:schemeClr val="tx2">
              <a:alpha val="45000"/>
            </a:schemeClr>
          </a:solidFill>
          <a:ln/>
        </p:spPr>
      </p:sp>
      <p:sp>
        <p:nvSpPr>
          <p:cNvPr id="5" name="cmd-236"/>
          <p:cNvSpPr txBox="1"/>
          <p:nvPr/>
        </p:nvSpPr>
        <p:spPr>
          <a:xfrm>
            <a:off x="731520" y="1691640"/>
            <a:ext cx="7680960" cy="512064"/>
          </a:xfrm>
          <a:prstGeom prst="rect">
            <a:avLst/>
          </a:prstGeom>
          <a:noFill/>
          <a:ln/>
        </p:spPr>
        <p:txBody>
          <a:bodyPr wrap="square" lIns="0" tIns="0" rIns="0" bIns="0" rtlCol="0" anchor="ctr"/>
          <a:lstStyle/>
          <a:p>
            <a:pPr indent="0" marL="0">
              <a:buNone/>
            </a:pPr>
            <a:r>
              <a:rPr lang="en-US" sz="1200" b="1" dirty="0">
                <a:solidFill>
                  <a:schemeClr val="accent2"/>
                </a:solidFill>
              </a:rPr>
              <a:t>1   </a:t>
            </a:r>
            <a:pPr indent="0" marL="0">
              <a:buNone/>
            </a:pPr>
            <a:r>
              <a:rPr lang="en-US" sz="1200" dirty="0">
                <a:solidFill>
                  <a:schemeClr val="bg1"/>
                </a:solidFill>
                <a:latin typeface="Courier New" pitchFamily="34" charset="0"/>
                <a:ea typeface="Courier New" pitchFamily="34" charset="-122"/>
                <a:cs typeface="Courier New" pitchFamily="34" charset="-120"/>
              </a:rPr>
              <a:t>git clone https://github.com/MehulK-techie/fedora-workstation-config.git</a:t>
            </a:r>
            <a:endParaRPr lang="en-US" sz="1200" dirty="0"/>
          </a:p>
        </p:txBody>
      </p:sp>
      <p:sp>
        <p:nvSpPr>
          <p:cNvPr id="6" name="cmdbox-237"/>
          <p:cNvSpPr/>
          <p:nvPr/>
        </p:nvSpPr>
        <p:spPr>
          <a:xfrm>
            <a:off x="548640" y="2350008"/>
            <a:ext cx="8046720" cy="512064"/>
          </a:xfrm>
          <a:prstGeom prst="roundRect">
            <a:avLst>
              <a:gd name="adj" fmla="val 17857"/>
            </a:avLst>
          </a:prstGeom>
          <a:solidFill>
            <a:schemeClr val="tx2">
              <a:alpha val="45000"/>
            </a:schemeClr>
          </a:solidFill>
          <a:ln/>
        </p:spPr>
      </p:sp>
      <p:sp>
        <p:nvSpPr>
          <p:cNvPr id="7" name="cmd-238"/>
          <p:cNvSpPr txBox="1"/>
          <p:nvPr/>
        </p:nvSpPr>
        <p:spPr>
          <a:xfrm>
            <a:off x="731520" y="2350008"/>
            <a:ext cx="7680960" cy="512064"/>
          </a:xfrm>
          <a:prstGeom prst="rect">
            <a:avLst/>
          </a:prstGeom>
          <a:noFill/>
          <a:ln/>
        </p:spPr>
        <p:txBody>
          <a:bodyPr wrap="square" lIns="0" tIns="0" rIns="0" bIns="0" rtlCol="0" anchor="ctr"/>
          <a:lstStyle/>
          <a:p>
            <a:pPr indent="0" marL="0">
              <a:buNone/>
            </a:pPr>
            <a:r>
              <a:rPr lang="en-US" sz="1200" b="1" dirty="0">
                <a:solidFill>
                  <a:schemeClr val="accent2"/>
                </a:solidFill>
              </a:rPr>
              <a:t>2   </a:t>
            </a:r>
            <a:pPr indent="0" marL="0">
              <a:buNone/>
            </a:pPr>
            <a:r>
              <a:rPr lang="en-US" sz="1200" dirty="0">
                <a:solidFill>
                  <a:schemeClr val="bg1"/>
                </a:solidFill>
                <a:latin typeface="Courier New" pitchFamily="34" charset="0"/>
                <a:ea typeface="Courier New" pitchFamily="34" charset="-122"/>
                <a:cs typeface="Courier New" pitchFamily="34" charset="-120"/>
              </a:rPr>
              <a:t>cd fedora-workstation-config</a:t>
            </a:r>
            <a:endParaRPr lang="en-US" sz="1200" dirty="0"/>
          </a:p>
        </p:txBody>
      </p:sp>
      <p:sp>
        <p:nvSpPr>
          <p:cNvPr id="8" name="cmdbox-239"/>
          <p:cNvSpPr/>
          <p:nvPr/>
        </p:nvSpPr>
        <p:spPr>
          <a:xfrm>
            <a:off x="548640" y="3008376"/>
            <a:ext cx="8046720" cy="512064"/>
          </a:xfrm>
          <a:prstGeom prst="roundRect">
            <a:avLst>
              <a:gd name="adj" fmla="val 17857"/>
            </a:avLst>
          </a:prstGeom>
          <a:solidFill>
            <a:schemeClr val="tx2">
              <a:alpha val="45000"/>
            </a:schemeClr>
          </a:solidFill>
          <a:ln/>
        </p:spPr>
      </p:sp>
      <p:sp>
        <p:nvSpPr>
          <p:cNvPr id="9" name="cmd-240"/>
          <p:cNvSpPr txBox="1"/>
          <p:nvPr/>
        </p:nvSpPr>
        <p:spPr>
          <a:xfrm>
            <a:off x="731520" y="3008376"/>
            <a:ext cx="7680960" cy="512064"/>
          </a:xfrm>
          <a:prstGeom prst="rect">
            <a:avLst/>
          </a:prstGeom>
          <a:noFill/>
          <a:ln/>
        </p:spPr>
        <p:txBody>
          <a:bodyPr wrap="square" lIns="0" tIns="0" rIns="0" bIns="0" rtlCol="0" anchor="ctr"/>
          <a:lstStyle/>
          <a:p>
            <a:pPr indent="0" marL="0">
              <a:buNone/>
            </a:pPr>
            <a:r>
              <a:rPr lang="en-US" sz="1200" b="1" dirty="0">
                <a:solidFill>
                  <a:schemeClr val="accent2"/>
                </a:solidFill>
              </a:rPr>
              <a:t>3   </a:t>
            </a:r>
            <a:pPr indent="0" marL="0">
              <a:buNone/>
            </a:pPr>
            <a:r>
              <a:rPr lang="en-US" sz="1200" dirty="0">
                <a:solidFill>
                  <a:schemeClr val="bg1"/>
                </a:solidFill>
                <a:latin typeface="Courier New" pitchFamily="34" charset="0"/>
                <a:ea typeface="Courier New" pitchFamily="34" charset="-122"/>
                <a:cs typeface="Courier New" pitchFamily="34" charset="-120"/>
              </a:rPr>
              <a:t>sudo ./setup.sh</a:t>
            </a:r>
            <a:endParaRPr lang="en-US" sz="1200" dirty="0"/>
          </a:p>
        </p:txBody>
      </p:sp>
      <p:sp>
        <p:nvSpPr>
          <p:cNvPr id="10" name="Text 8"/>
          <p:cNvSpPr txBox="1"/>
          <p:nvPr/>
        </p:nvSpPr>
        <p:spPr>
          <a:xfrm>
            <a:off x="548640" y="3749040"/>
            <a:ext cx="8046720" cy="320040"/>
          </a:xfrm>
          <a:prstGeom prst="rect">
            <a:avLst/>
          </a:prstGeom>
          <a:noFill/>
          <a:ln/>
        </p:spPr>
        <p:txBody>
          <a:bodyPr wrap="square" lIns="0" tIns="0" rIns="0" bIns="0" rtlCol="0" anchor="ctr"/>
          <a:lstStyle/>
          <a:p>
            <a:pPr indent="0" marL="0">
              <a:buNone/>
            </a:pPr>
            <a:r>
              <a:rPr lang="en-US" sz="1600" dirty="0">
                <a:solidFill>
                  <a:schemeClr val="bg2"/>
                </a:solidFill>
              </a:rPr>
              <a:t>On a fresh Fedora Workstation. Then log out and back in. That's it.</a:t>
            </a:r>
            <a:endParaRPr lang="en-US" sz="1600" dirty="0"/>
          </a:p>
        </p:txBody>
      </p:sp>
      <p:sp>
        <p:nvSpPr>
          <p:cNvPr id="11" name="Text 9"/>
          <p:cNvSpPr txBox="1"/>
          <p:nvPr/>
        </p:nvSpPr>
        <p:spPr>
          <a:xfrm>
            <a:off x="548640" y="4251960"/>
            <a:ext cx="8046720" cy="320040"/>
          </a:xfrm>
          <a:prstGeom prst="rect">
            <a:avLst/>
          </a:prstGeom>
          <a:noFill/>
          <a:ln/>
        </p:spPr>
        <p:txBody>
          <a:bodyPr wrap="square" lIns="0" tIns="0" rIns="0" bIns="0" rtlCol="0" anchor="ctr"/>
          <a:lstStyle/>
          <a:p>
            <a:pPr indent="0" marL="0">
              <a:buNone/>
            </a:pPr>
            <a:r>
              <a:rPr lang="en-US" sz="1400" b="1"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Source code and issues</a:t>
            </a:r>
            <a:pPr indent="0" marL="0">
              <a:buNone/>
            </a:pPr>
            <a:r>
              <a:rPr lang="en-US" sz="1400" dirty="0">
                <a:solidFill>
                  <a:srgbClr val="000000"/>
                </a:solidFill>
              </a:rPr>
              <a:t>      </a:t>
            </a:r>
            <a:pPr indent="0" marL="0">
              <a:buNone/>
            </a:pPr>
            <a:r>
              <a:rPr lang="en-US" sz="1400" b="1"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Getting started guide</a:t>
            </a:r>
            <a:pPr indent="0" marL="0">
              <a:buNone/>
            </a:pPr>
            <a:r>
              <a:rPr lang="en-US" sz="1400" dirty="0">
                <a:solidFill>
                  <a:srgbClr val="000000"/>
                </a:solidFill>
              </a:rPr>
              <a:t>      </a:t>
            </a:r>
            <a:pPr indent="0" marL="0">
              <a:buNone/>
            </a:pPr>
            <a:r>
              <a:rPr lang="en-US" sz="1400" b="1"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Every feature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MK Workstation">
      <a:dk1>
        <a:srgbClr val="0B1430"/>
      </a:dk1>
      <a:lt1>
        <a:srgbClr val="FFFFFF"/>
      </a:lt1>
      <a:dk2>
        <a:srgbClr val="5B677C"/>
      </a:dk2>
      <a:lt2>
        <a:srgbClr val="EEF3FC"/>
      </a:lt2>
      <a:accent1>
        <a:srgbClr val="2F80FF"/>
      </a:accent1>
      <a:accent2>
        <a:srgbClr val="4FD3FF"/>
      </a:accent2>
      <a:accent3>
        <a:srgbClr val="FFB020"/>
      </a:accent3>
      <a:accent4>
        <a:srgbClr val="2ECC8F"/>
      </a:accent4>
      <a:accent5>
        <a:srgbClr val="9B6BFF"/>
      </a:accent5>
      <a:accent6>
        <a:srgbClr val="FF4D6D"/>
      </a:accent6>
      <a:hlink>
        <a:srgbClr val="2F80FF"/>
      </a:hlink>
      <a:folHlink>
        <a:srgbClr val="9B6BFF"/>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MK Workstation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 Workstation: Fedora, finished</dc:title>
  <dc:subject>What MK Workstation adds to Fedora Workstation</dc:subject>
  <dc:creator>MK Workstation</dc:creator>
  <cp:lastModifiedBy>MK Workstation</cp:lastModifiedBy>
  <cp:revision>1</cp:revision>
  <dcterms:created xsi:type="dcterms:W3CDTF">2026-10-25T05:18:47Z</dcterms:created>
  <dcterms:modified xsi:type="dcterms:W3CDTF">2026-10-25T05:18:48Z</dcterms:modified>
</cp:coreProperties>
</file>